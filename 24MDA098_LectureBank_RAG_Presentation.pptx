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Groq · llama-3.3-70b</c:v>
                </c:pt>
              </c:strCache>
            </c:strRef>
          </c:tx>
          <c:spPr>
            <a:solidFill>
              <a:srgbClr val="1E2761"/>
            </a:solidFill>
            <a:effectLst/>
          </c:spPr>
          <c:invertIfNegative val="0"/>
          <c:dLbls>
            <c:numFmt formatCode="0.0&quot;%&quot;" sourceLinked="0"/>
            <c:txPr>
              <a:bodyPr/>
              <a:lstStyle/>
              <a:p>
                <a:pPr>
                  <a:defRPr b="0" i="0" strike="noStrike" sz="1000" u="none">
                    <a:solidFill>
                      <a:srgbClr val="3A4560"/>
                    </a:solidFill>
                    <a:latin typeface="Calibri"/>
                  </a:defRPr>
                </a:pPr>
              </a:p>
            </c:txPr>
            <c:showLegendKey val="0"/>
            <c:showVal val="1"/>
            <c:showCatName val="0"/>
            <c:showSerName val="0"/>
            <c:showPercent val="0"/>
            <c:showBubbleSize val="0"/>
            <c:showLeaderLines val="0"/>
          </c:dLbls>
          <c:cat>
            <c:multiLvlStrRef>
              <c:f>Sheet1!$A$2:$A$4</c:f>
              <c:multiLvlStrCache>
                <c:ptCount val="3"/>
                <c:lvl>
                  <c:pt idx="0">
                    <c:v>Faithfulness</c:v>
                  </c:pt>
                  <c:pt idx="1">
                    <c:v>Answer relevancy</c:v>
                  </c:pt>
                  <c:pt idx="2">
                    <c:v>Context recall</c:v>
                  </c:pt>
                </c:lvl>
              </c:multiLvlStrCache>
            </c:multiLvlStrRef>
          </c:cat>
          <c:val>
            <c:numRef>
              <c:f>Sheet1!$B$2:$B$4</c:f>
              <c:numCache>
                <c:formatCode>General</c:formatCode>
                <c:ptCount val="3"/>
                <c:pt idx="0">
                  <c:v>60</c:v>
                </c:pt>
                <c:pt idx="1">
                  <c:v>88.6</c:v>
                </c:pt>
                <c:pt idx="2">
                  <c:v>89.8</c:v>
                </c:pt>
              </c:numCache>
            </c:numRef>
          </c:val>
        </c:ser>
        <c:ser>
          <c:idx val="1"/>
          <c:order val="1"/>
          <c:tx>
            <c:strRef>
              <c:f>Sheet1!$C$1</c:f>
              <c:strCache>
                <c:ptCount val="1"/>
                <c:pt idx="0">
                  <c:v>Local · mistral via Ollama</c:v>
                </c:pt>
              </c:strCache>
            </c:strRef>
          </c:tx>
          <c:spPr>
            <a:solidFill>
              <a:srgbClr val="8FB3F2"/>
            </a:solidFill>
            <a:effectLst/>
          </c:spPr>
          <c:invertIfNegative val="0"/>
          <c:dLbls>
            <c:numFmt formatCode="0.0&quot;%&quot;" sourceLinked="0"/>
            <c:txPr>
              <a:bodyPr/>
              <a:lstStyle/>
              <a:p>
                <a:pPr>
                  <a:defRPr b="0" i="0" strike="noStrike" sz="1000" u="none">
                    <a:solidFill>
                      <a:srgbClr val="3A4560"/>
                    </a:solidFill>
                    <a:latin typeface="Calibri"/>
                  </a:defRPr>
                </a:pPr>
              </a:p>
            </c:txPr>
            <c:showLegendKey val="0"/>
            <c:showVal val="1"/>
            <c:showCatName val="0"/>
            <c:showSerName val="0"/>
            <c:showPercent val="0"/>
            <c:showBubbleSize val="0"/>
            <c:showLeaderLines val="0"/>
          </c:dLbls>
          <c:cat>
            <c:multiLvlStrRef>
              <c:f>Sheet1!$A$2:$A$4</c:f>
              <c:multiLvlStrCache>
                <c:ptCount val="3"/>
                <c:lvl>
                  <c:pt idx="0">
                    <c:v>Faithfulness</c:v>
                  </c:pt>
                  <c:pt idx="1">
                    <c:v>Answer relevancy</c:v>
                  </c:pt>
                  <c:pt idx="2">
                    <c:v>Context recall</c:v>
                  </c:pt>
                </c:lvl>
              </c:multiLvlStrCache>
            </c:multiLvlStrRef>
          </c:cat>
          <c:val>
            <c:numRef>
              <c:f>Sheet1!$C$2:$C$4</c:f>
              <c:numCache>
                <c:formatCode>General</c:formatCode>
                <c:ptCount val="3"/>
                <c:pt idx="0">
                  <c:v>59.4</c:v>
                </c:pt>
                <c:pt idx="1">
                  <c:v>93.3</c:v>
                </c:pt>
                <c:pt idx="2">
                  <c:v>89.8</c:v>
                </c:pt>
              </c:numCache>
            </c:numRef>
          </c:val>
        </c:ser>
        <c:dLbls>
          <c:numFmt formatCode="0.0&quot;%&quot;" sourceLinked="0"/>
          <c:txPr>
            <a:bodyPr/>
            <a:lstStyle/>
            <a:p>
              <a:pPr>
                <a:defRPr b="0" i="0" strike="noStrike" sz="1000" u="none">
                  <a:solidFill>
                    <a:srgbClr val="3A4560"/>
                  </a:solidFill>
                  <a:latin typeface="Calibri"/>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A4560"/>
                </a:solidFill>
                <a:latin typeface="Calibri"/>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E4EAF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7C88A6"/>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3A4560"/>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Groq · llama-3.3-70b</c:v>
                </c:pt>
              </c:strCache>
            </c:strRef>
          </c:tx>
          <c:spPr>
            <a:solidFill>
              <a:srgbClr val="1E2761"/>
            </a:solidFill>
            <a:effectLst/>
          </c:spPr>
          <c:invertIfNegative val="0"/>
          <c:dLbls>
            <c:numFmt formatCode="0.0#&quot; s&quot;" sourceLinked="0"/>
            <c:txPr>
              <a:bodyPr/>
              <a:lstStyle/>
              <a:p>
                <a:pPr>
                  <a:defRPr b="0" i="0" strike="noStrike" sz="1000" u="none">
                    <a:solidFill>
                      <a:srgbClr val="3A4560"/>
                    </a:solidFill>
                    <a:latin typeface="Calibri"/>
                  </a:defRPr>
                </a:pPr>
              </a:p>
            </c:txPr>
            <c:showLegendKey val="0"/>
            <c:showVal val="1"/>
            <c:showCatName val="0"/>
            <c:showSerName val="0"/>
            <c:showPercent val="0"/>
            <c:showBubbleSize val="0"/>
            <c:showLeaderLines val="0"/>
          </c:dLbls>
          <c:cat>
            <c:multiLvlStrRef>
              <c:f>Sheet1!$A$2:$A$4</c:f>
              <c:multiLvlStrCache>
                <c:ptCount val="3"/>
                <c:lvl>
                  <c:pt idx="0">
                    <c:v>Mean</c:v>
                  </c:pt>
                  <c:pt idx="1">
                    <c:v>Median</c:v>
                  </c:pt>
                  <c:pt idx="2">
                    <c:v>p95</c:v>
                  </c:pt>
                </c:lvl>
              </c:multiLvlStrCache>
            </c:multiLvlStrRef>
          </c:cat>
          <c:val>
            <c:numRef>
              <c:f>Sheet1!$B$2:$B$4</c:f>
              <c:numCache>
                <c:formatCode>General</c:formatCode>
                <c:ptCount val="3"/>
                <c:pt idx="0">
                  <c:v>0.74</c:v>
                </c:pt>
                <c:pt idx="1">
                  <c:v>0.78</c:v>
                </c:pt>
                <c:pt idx="2">
                  <c:v>1.09</c:v>
                </c:pt>
              </c:numCache>
            </c:numRef>
          </c:val>
        </c:ser>
        <c:ser>
          <c:idx val="1"/>
          <c:order val="1"/>
          <c:tx>
            <c:strRef>
              <c:f>Sheet1!$C$1</c:f>
              <c:strCache>
                <c:ptCount val="1"/>
                <c:pt idx="0">
                  <c:v>Ollama · llama3.1:8b (local CPU)</c:v>
                </c:pt>
              </c:strCache>
            </c:strRef>
          </c:tx>
          <c:spPr>
            <a:solidFill>
              <a:srgbClr val="8FB3F2"/>
            </a:solidFill>
            <a:effectLst/>
          </c:spPr>
          <c:invertIfNegative val="0"/>
          <c:dLbls>
            <c:numFmt formatCode="0.0#&quot; s&quot;" sourceLinked="0"/>
            <c:txPr>
              <a:bodyPr/>
              <a:lstStyle/>
              <a:p>
                <a:pPr>
                  <a:defRPr b="0" i="0" strike="noStrike" sz="1000" u="none">
                    <a:solidFill>
                      <a:srgbClr val="3A4560"/>
                    </a:solidFill>
                    <a:latin typeface="Calibri"/>
                  </a:defRPr>
                </a:pPr>
              </a:p>
            </c:txPr>
            <c:showLegendKey val="0"/>
            <c:showVal val="1"/>
            <c:showCatName val="0"/>
            <c:showSerName val="0"/>
            <c:showPercent val="0"/>
            <c:showBubbleSize val="0"/>
            <c:showLeaderLines val="0"/>
          </c:dLbls>
          <c:cat>
            <c:multiLvlStrRef>
              <c:f>Sheet1!$A$2:$A$4</c:f>
              <c:multiLvlStrCache>
                <c:ptCount val="3"/>
                <c:lvl>
                  <c:pt idx="0">
                    <c:v>Mean</c:v>
                  </c:pt>
                  <c:pt idx="1">
                    <c:v>Median</c:v>
                  </c:pt>
                  <c:pt idx="2">
                    <c:v>p95</c:v>
                  </c:pt>
                </c:lvl>
              </c:multiLvlStrCache>
            </c:multiLvlStrRef>
          </c:cat>
          <c:val>
            <c:numRef>
              <c:f>Sheet1!$C$2:$C$4</c:f>
              <c:numCache>
                <c:formatCode>General</c:formatCode>
                <c:ptCount val="3"/>
                <c:pt idx="0">
                  <c:v>35.2</c:v>
                </c:pt>
                <c:pt idx="1">
                  <c:v>36.3</c:v>
                </c:pt>
                <c:pt idx="2">
                  <c:v>46</c:v>
                </c:pt>
              </c:numCache>
            </c:numRef>
          </c:val>
        </c:ser>
        <c:dLbls>
          <c:numFmt formatCode="0.0#&quot; s&quot;" sourceLinked="0"/>
          <c:txPr>
            <a:bodyPr/>
            <a:lstStyle/>
            <a:p>
              <a:pPr>
                <a:defRPr b="0" i="0" strike="noStrike" sz="1000" u="none">
                  <a:solidFill>
                    <a:srgbClr val="3A4560"/>
                  </a:solidFill>
                  <a:latin typeface="Calibri"/>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A4560"/>
                </a:solidFill>
                <a:latin typeface="Calibri"/>
              </a:defRPr>
            </a:pPr>
            <a:endParaRPr lang="en-US"/>
          </a:p>
        </c:txPr>
        <c:crossAx val="2094734552"/>
        <c:crosses val="autoZero"/>
        <c:auto val="1"/>
        <c:lblAlgn val="ctr"/>
        <c:noMultiLvlLbl val="1"/>
      </c:catAx>
      <c:valAx>
        <c:axId val="2094734552"/>
        <c:scaling>
          <c:orientation val="minMax"/>
          <c:max val="50"/>
          <c:min val="0"/>
        </c:scaling>
        <c:delete val="0"/>
        <c:axPos val="l"/>
        <c:majorGridlines>
          <c:spPr>
            <a:ln w="6350" cap="flat">
              <a:solidFill>
                <a:srgbClr val="E4EAF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7C88A6"/>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3A4560"/>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 RAG chatbot over the LectureBank NLP lecture corpus. Two things make it interesting: a dual generation backend (Groq cloud vs local Ollama) and an evaluation suite written from scratch so quality is measured, not eyeballed.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lanes: an offline indexing pipeline that turns the TSV corpus and 16 PDF decks into 4,575 embedded chunks in ChromaDB, and an online query path. The scope gate is the interesting control point: below 0.3 relevance the app refuses rather than letting the LLM improvise.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runs locally and free at the indexing stage: MiniLM embeddings on CPU with no API key. Only the first 500 TSV rows are ingested via a MAX_ROWS cap, plus 16 full PDF decks — 4,575 chunks total.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Retrieval-side controls do the heavy lifting: query rewriting keeps follow-ups grounded, the 0.3 scope gate refuses off-corpus questions, and a 10-turn deque holds conversation state. Generation is deliberately swappable — same prompt, two backends.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from-scratch contribution. Two design decisions to highlight: the eval reuses the production code path so it cannot drift, and the judge model is deliberately different from the generator to reduce self-grading bias.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metric definitions before showing numbers, and be explicit about labels: three generation metrics are LLM-judged, context recall is a keyword proxy because no gold reference answers exist for this 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Headline: retrieval works — 94.4% hit rate at 21 ms. The honest caveats: precision is low, so a re-ranker is the obvious next step, and the scope gate let one cookie-recipe question 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Relevancy and recall are healthy; faithfulness is the weak spot at 60%. The comparison run shows this is not a model problem you can swap away — mistral scores the same for 57x the latency. The concrete failure cases justify why automated grading was worth building.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prompts on both backends: Groq answers in under a second, local CPU inference takes half a minute or more. Frame it as build-vs-buy: the 47.5x speedup costs you an external API dependency.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honesty: the system works, the eval suite found the real weaknesses, and every number is reproducible with one command. State the caveats proactively — small golden set, proxy recall, LLM-judged scores.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822960" y="932688"/>
            <a:ext cx="10515600" cy="274320"/>
          </a:xfrm>
          <a:prstGeom prst="rect">
            <a:avLst/>
          </a:prstGeom>
          <a:noFill/>
          <a:ln/>
        </p:spPr>
        <p:txBody>
          <a:bodyPr wrap="square" lIns="0" tIns="0" rIns="0" bIns="0" rtlCol="0" anchor="ctr"/>
          <a:lstStyle/>
          <a:p>
            <a:pPr indent="0" marL="0">
              <a:buNone/>
            </a:pPr>
            <a:r>
              <a:rPr lang="en-US" sz="1250" b="1" spc="300" kern="0" dirty="0">
                <a:solidFill>
                  <a:srgbClr val="CADCFC"/>
                </a:solidFill>
                <a:latin typeface="Calibri" pitchFamily="34" charset="0"/>
                <a:ea typeface="Calibri" pitchFamily="34" charset="-122"/>
                <a:cs typeface="Calibri" pitchFamily="34" charset="-120"/>
              </a:rPr>
              <a:t>M.TECH DSAI  ·  SEMESTER 3  ·  TECHNICAL PRESENTATION</a:t>
            </a:r>
            <a:endParaRPr lang="en-US" sz="1250" dirty="0"/>
          </a:p>
        </p:txBody>
      </p:sp>
      <p:sp>
        <p:nvSpPr>
          <p:cNvPr id="3" name="Text 1"/>
          <p:cNvSpPr/>
          <p:nvPr/>
        </p:nvSpPr>
        <p:spPr>
          <a:xfrm>
            <a:off x="822960" y="1298448"/>
            <a:ext cx="10607040" cy="86868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LectureBank RAG Chatbot</a:t>
            </a:r>
            <a:endParaRPr lang="en-US" sz="4400" dirty="0"/>
          </a:p>
        </p:txBody>
      </p:sp>
      <p:sp>
        <p:nvSpPr>
          <p:cNvPr id="4" name="Text 2"/>
          <p:cNvSpPr/>
          <p:nvPr/>
        </p:nvSpPr>
        <p:spPr>
          <a:xfrm>
            <a:off x="822960" y="2331720"/>
            <a:ext cx="9692640" cy="822960"/>
          </a:xfrm>
          <a:prstGeom prst="rect">
            <a:avLst/>
          </a:prstGeom>
          <a:noFill/>
          <a:ln/>
        </p:spPr>
        <p:txBody>
          <a:bodyPr wrap="square" lIns="0" tIns="0" rIns="0" bIns="0" rtlCol="0" anchor="ctr"/>
          <a:lstStyle/>
          <a:p>
            <a:pPr indent="0" marL="0">
              <a:lnSpc>
                <a:spcPts val="2200"/>
              </a:lnSpc>
              <a:buNone/>
            </a:pPr>
            <a:r>
              <a:rPr lang="en-US" sz="1600" dirty="0">
                <a:solidFill>
                  <a:srgbClr val="CADCFC"/>
                </a:solidFill>
                <a:latin typeface="Calibri" pitchFamily="34" charset="0"/>
                <a:ea typeface="Calibri" pitchFamily="34" charset="-122"/>
                <a:cs typeface="Calibri" pitchFamily="34" charset="-120"/>
              </a:rPr>
              <a:t>Retrieval-Augmented Generation over the LectureBank NLP lecture corpus — with a dual cloud + local generation backend and a from-scratch automated evaluation suite.</a:t>
            </a:r>
            <a:endParaRPr lang="en-US" sz="1600" dirty="0"/>
          </a:p>
        </p:txBody>
      </p:sp>
      <p:sp>
        <p:nvSpPr>
          <p:cNvPr id="5" name="Shape 3"/>
          <p:cNvSpPr/>
          <p:nvPr/>
        </p:nvSpPr>
        <p:spPr>
          <a:xfrm>
            <a:off x="1513332" y="3977640"/>
            <a:ext cx="1298448" cy="420624"/>
          </a:xfrm>
          <a:prstGeom prst="roundRect">
            <a:avLst>
              <a:gd name="adj" fmla="val 50000"/>
            </a:avLst>
          </a:prstGeom>
          <a:solidFill>
            <a:srgbClr val="2A3576"/>
          </a:solidFill>
          <a:ln w="9525">
            <a:solidFill>
              <a:srgbClr val="3D4A8F"/>
            </a:solidFill>
            <a:prstDash val="solid"/>
          </a:ln>
        </p:spPr>
      </p:sp>
      <p:sp>
        <p:nvSpPr>
          <p:cNvPr id="6" name="Text 4"/>
          <p:cNvSpPr/>
          <p:nvPr/>
        </p:nvSpPr>
        <p:spPr>
          <a:xfrm>
            <a:off x="1513332" y="3977640"/>
            <a:ext cx="1298448" cy="420624"/>
          </a:xfrm>
          <a:prstGeom prst="rect">
            <a:avLst/>
          </a:prstGeom>
          <a:noFill/>
          <a:ln/>
        </p:spPr>
        <p:txBody>
          <a:bodyPr wrap="square" lIns="0" tIns="0" rIns="0" bIns="0" rtlCol="0" anchor="ctr"/>
          <a:lstStyle/>
          <a:p>
            <a:pPr algn="ctr" indent="0" marL="0">
              <a:buNone/>
            </a:pPr>
            <a:r>
              <a:rPr lang="en-US" sz="1050" b="1" spc="150" kern="0" dirty="0">
                <a:solidFill>
                  <a:srgbClr val="CADCFC"/>
                </a:solidFill>
                <a:latin typeface="Calibri" pitchFamily="34" charset="0"/>
                <a:ea typeface="Calibri" pitchFamily="34" charset="-122"/>
                <a:cs typeface="Calibri" pitchFamily="34" charset="-120"/>
              </a:rPr>
              <a:t>INGEST</a:t>
            </a:r>
            <a:endParaRPr lang="en-US" sz="1050" dirty="0"/>
          </a:p>
        </p:txBody>
      </p:sp>
      <p:sp>
        <p:nvSpPr>
          <p:cNvPr id="7" name="Text 5"/>
          <p:cNvSpPr/>
          <p:nvPr/>
        </p:nvSpPr>
        <p:spPr>
          <a:xfrm>
            <a:off x="2811780" y="3977640"/>
            <a:ext cx="274320" cy="420624"/>
          </a:xfrm>
          <a:prstGeom prst="rect">
            <a:avLst/>
          </a:prstGeom>
          <a:noFill/>
          <a:ln/>
        </p:spPr>
        <p:txBody>
          <a:bodyPr wrap="square" lIns="0" tIns="0" rIns="0" bIns="0" rtlCol="0" anchor="ctr"/>
          <a:lstStyle/>
          <a:p>
            <a:pPr algn="ctr" indent="0" marL="0">
              <a:buNone/>
            </a:pPr>
            <a:r>
              <a:rPr lang="en-US" sz="1300" dirty="0">
                <a:solidFill>
                  <a:srgbClr val="6A7BC4"/>
                </a:solidFill>
                <a:latin typeface="Calibri" pitchFamily="34" charset="0"/>
                <a:ea typeface="Calibri" pitchFamily="34" charset="-122"/>
                <a:cs typeface="Calibri" pitchFamily="34" charset="-120"/>
              </a:rPr>
              <a:t>→</a:t>
            </a:r>
            <a:endParaRPr lang="en-US" sz="1300" dirty="0"/>
          </a:p>
        </p:txBody>
      </p:sp>
      <p:sp>
        <p:nvSpPr>
          <p:cNvPr id="8" name="Shape 6"/>
          <p:cNvSpPr/>
          <p:nvPr/>
        </p:nvSpPr>
        <p:spPr>
          <a:xfrm>
            <a:off x="3086100" y="3977640"/>
            <a:ext cx="1298448" cy="420624"/>
          </a:xfrm>
          <a:prstGeom prst="roundRect">
            <a:avLst>
              <a:gd name="adj" fmla="val 50000"/>
            </a:avLst>
          </a:prstGeom>
          <a:solidFill>
            <a:srgbClr val="2A3576"/>
          </a:solidFill>
          <a:ln w="9525">
            <a:solidFill>
              <a:srgbClr val="3D4A8F"/>
            </a:solidFill>
            <a:prstDash val="solid"/>
          </a:ln>
        </p:spPr>
      </p:sp>
      <p:sp>
        <p:nvSpPr>
          <p:cNvPr id="9" name="Text 7"/>
          <p:cNvSpPr/>
          <p:nvPr/>
        </p:nvSpPr>
        <p:spPr>
          <a:xfrm>
            <a:off x="3086100" y="3977640"/>
            <a:ext cx="1298448" cy="420624"/>
          </a:xfrm>
          <a:prstGeom prst="rect">
            <a:avLst/>
          </a:prstGeom>
          <a:noFill/>
          <a:ln/>
        </p:spPr>
        <p:txBody>
          <a:bodyPr wrap="square" lIns="0" tIns="0" rIns="0" bIns="0" rtlCol="0" anchor="ctr"/>
          <a:lstStyle/>
          <a:p>
            <a:pPr algn="ctr" indent="0" marL="0">
              <a:buNone/>
            </a:pPr>
            <a:r>
              <a:rPr lang="en-US" sz="1050" b="1" spc="150" kern="0" dirty="0">
                <a:solidFill>
                  <a:srgbClr val="CADCFC"/>
                </a:solidFill>
                <a:latin typeface="Calibri" pitchFamily="34" charset="0"/>
                <a:ea typeface="Calibri" pitchFamily="34" charset="-122"/>
                <a:cs typeface="Calibri" pitchFamily="34" charset="-120"/>
              </a:rPr>
              <a:t>EMBED</a:t>
            </a:r>
            <a:endParaRPr lang="en-US" sz="1050" dirty="0"/>
          </a:p>
        </p:txBody>
      </p:sp>
      <p:sp>
        <p:nvSpPr>
          <p:cNvPr id="10" name="Text 8"/>
          <p:cNvSpPr/>
          <p:nvPr/>
        </p:nvSpPr>
        <p:spPr>
          <a:xfrm>
            <a:off x="4384548" y="3977640"/>
            <a:ext cx="274320" cy="420624"/>
          </a:xfrm>
          <a:prstGeom prst="rect">
            <a:avLst/>
          </a:prstGeom>
          <a:noFill/>
          <a:ln/>
        </p:spPr>
        <p:txBody>
          <a:bodyPr wrap="square" lIns="0" tIns="0" rIns="0" bIns="0" rtlCol="0" anchor="ctr"/>
          <a:lstStyle/>
          <a:p>
            <a:pPr algn="ctr" indent="0" marL="0">
              <a:buNone/>
            </a:pPr>
            <a:r>
              <a:rPr lang="en-US" sz="1300" dirty="0">
                <a:solidFill>
                  <a:srgbClr val="6A7BC4"/>
                </a:solidFill>
                <a:latin typeface="Calibri" pitchFamily="34" charset="0"/>
                <a:ea typeface="Calibri" pitchFamily="34" charset="-122"/>
                <a:cs typeface="Calibri" pitchFamily="34" charset="-120"/>
              </a:rPr>
              <a:t>→</a:t>
            </a:r>
            <a:endParaRPr lang="en-US" sz="1300" dirty="0"/>
          </a:p>
        </p:txBody>
      </p:sp>
      <p:sp>
        <p:nvSpPr>
          <p:cNvPr id="11" name="Shape 9"/>
          <p:cNvSpPr/>
          <p:nvPr/>
        </p:nvSpPr>
        <p:spPr>
          <a:xfrm>
            <a:off x="4658868" y="3977640"/>
            <a:ext cx="1298448" cy="420624"/>
          </a:xfrm>
          <a:prstGeom prst="roundRect">
            <a:avLst>
              <a:gd name="adj" fmla="val 50000"/>
            </a:avLst>
          </a:prstGeom>
          <a:solidFill>
            <a:srgbClr val="2A3576"/>
          </a:solidFill>
          <a:ln w="9525">
            <a:solidFill>
              <a:srgbClr val="3D4A8F"/>
            </a:solidFill>
            <a:prstDash val="solid"/>
          </a:ln>
        </p:spPr>
      </p:sp>
      <p:sp>
        <p:nvSpPr>
          <p:cNvPr id="12" name="Text 10"/>
          <p:cNvSpPr/>
          <p:nvPr/>
        </p:nvSpPr>
        <p:spPr>
          <a:xfrm>
            <a:off x="4658868" y="3977640"/>
            <a:ext cx="1298448" cy="420624"/>
          </a:xfrm>
          <a:prstGeom prst="rect">
            <a:avLst/>
          </a:prstGeom>
          <a:noFill/>
          <a:ln/>
        </p:spPr>
        <p:txBody>
          <a:bodyPr wrap="square" lIns="0" tIns="0" rIns="0" bIns="0" rtlCol="0" anchor="ctr"/>
          <a:lstStyle/>
          <a:p>
            <a:pPr algn="ctr" indent="0" marL="0">
              <a:buNone/>
            </a:pPr>
            <a:r>
              <a:rPr lang="en-US" sz="1050" b="1" spc="150" kern="0" dirty="0">
                <a:solidFill>
                  <a:srgbClr val="CADCFC"/>
                </a:solidFill>
                <a:latin typeface="Calibri" pitchFamily="34" charset="0"/>
                <a:ea typeface="Calibri" pitchFamily="34" charset="-122"/>
                <a:cs typeface="Calibri" pitchFamily="34" charset="-120"/>
              </a:rPr>
              <a:t>RETRIEVE</a:t>
            </a:r>
            <a:endParaRPr lang="en-US" sz="1050" dirty="0"/>
          </a:p>
        </p:txBody>
      </p:sp>
      <p:sp>
        <p:nvSpPr>
          <p:cNvPr id="13" name="Text 11"/>
          <p:cNvSpPr/>
          <p:nvPr/>
        </p:nvSpPr>
        <p:spPr>
          <a:xfrm>
            <a:off x="5957316" y="3977640"/>
            <a:ext cx="274320" cy="420624"/>
          </a:xfrm>
          <a:prstGeom prst="rect">
            <a:avLst/>
          </a:prstGeom>
          <a:noFill/>
          <a:ln/>
        </p:spPr>
        <p:txBody>
          <a:bodyPr wrap="square" lIns="0" tIns="0" rIns="0" bIns="0" rtlCol="0" anchor="ctr"/>
          <a:lstStyle/>
          <a:p>
            <a:pPr algn="ctr" indent="0" marL="0">
              <a:buNone/>
            </a:pPr>
            <a:r>
              <a:rPr lang="en-US" sz="1300" dirty="0">
                <a:solidFill>
                  <a:srgbClr val="6A7BC4"/>
                </a:solidFill>
                <a:latin typeface="Calibri" pitchFamily="34" charset="0"/>
                <a:ea typeface="Calibri" pitchFamily="34" charset="-122"/>
                <a:cs typeface="Calibri" pitchFamily="34" charset="-120"/>
              </a:rPr>
              <a:t>→</a:t>
            </a:r>
            <a:endParaRPr lang="en-US" sz="1300" dirty="0"/>
          </a:p>
        </p:txBody>
      </p:sp>
      <p:sp>
        <p:nvSpPr>
          <p:cNvPr id="14" name="Shape 12"/>
          <p:cNvSpPr/>
          <p:nvPr/>
        </p:nvSpPr>
        <p:spPr>
          <a:xfrm>
            <a:off x="6231636" y="3977640"/>
            <a:ext cx="1298448" cy="420624"/>
          </a:xfrm>
          <a:prstGeom prst="roundRect">
            <a:avLst>
              <a:gd name="adj" fmla="val 50000"/>
            </a:avLst>
          </a:prstGeom>
          <a:solidFill>
            <a:srgbClr val="2A3576"/>
          </a:solidFill>
          <a:ln w="9525">
            <a:solidFill>
              <a:srgbClr val="3D4A8F"/>
            </a:solidFill>
            <a:prstDash val="solid"/>
          </a:ln>
        </p:spPr>
      </p:sp>
      <p:sp>
        <p:nvSpPr>
          <p:cNvPr id="15" name="Text 13"/>
          <p:cNvSpPr/>
          <p:nvPr/>
        </p:nvSpPr>
        <p:spPr>
          <a:xfrm>
            <a:off x="6231636" y="3977640"/>
            <a:ext cx="1298448" cy="420624"/>
          </a:xfrm>
          <a:prstGeom prst="rect">
            <a:avLst/>
          </a:prstGeom>
          <a:noFill/>
          <a:ln/>
        </p:spPr>
        <p:txBody>
          <a:bodyPr wrap="square" lIns="0" tIns="0" rIns="0" bIns="0" rtlCol="0" anchor="ctr"/>
          <a:lstStyle/>
          <a:p>
            <a:pPr algn="ctr" indent="0" marL="0">
              <a:buNone/>
            </a:pPr>
            <a:r>
              <a:rPr lang="en-US" sz="1050" b="1" spc="150" kern="0" dirty="0">
                <a:solidFill>
                  <a:srgbClr val="CADCFC"/>
                </a:solidFill>
                <a:latin typeface="Calibri" pitchFamily="34" charset="0"/>
                <a:ea typeface="Calibri" pitchFamily="34" charset="-122"/>
                <a:cs typeface="Calibri" pitchFamily="34" charset="-120"/>
              </a:rPr>
              <a:t>GATE</a:t>
            </a:r>
            <a:endParaRPr lang="en-US" sz="1050" dirty="0"/>
          </a:p>
        </p:txBody>
      </p:sp>
      <p:sp>
        <p:nvSpPr>
          <p:cNvPr id="16" name="Text 14"/>
          <p:cNvSpPr/>
          <p:nvPr/>
        </p:nvSpPr>
        <p:spPr>
          <a:xfrm>
            <a:off x="7530084" y="3977640"/>
            <a:ext cx="274320" cy="420624"/>
          </a:xfrm>
          <a:prstGeom prst="rect">
            <a:avLst/>
          </a:prstGeom>
          <a:noFill/>
          <a:ln/>
        </p:spPr>
        <p:txBody>
          <a:bodyPr wrap="square" lIns="0" tIns="0" rIns="0" bIns="0" rtlCol="0" anchor="ctr"/>
          <a:lstStyle/>
          <a:p>
            <a:pPr algn="ctr" indent="0" marL="0">
              <a:buNone/>
            </a:pPr>
            <a:r>
              <a:rPr lang="en-US" sz="1300" dirty="0">
                <a:solidFill>
                  <a:srgbClr val="6A7BC4"/>
                </a:solidFill>
                <a:latin typeface="Calibri" pitchFamily="34" charset="0"/>
                <a:ea typeface="Calibri" pitchFamily="34" charset="-122"/>
                <a:cs typeface="Calibri" pitchFamily="34" charset="-120"/>
              </a:rPr>
              <a:t>→</a:t>
            </a:r>
            <a:endParaRPr lang="en-US" sz="1300" dirty="0"/>
          </a:p>
        </p:txBody>
      </p:sp>
      <p:sp>
        <p:nvSpPr>
          <p:cNvPr id="17" name="Shape 15"/>
          <p:cNvSpPr/>
          <p:nvPr/>
        </p:nvSpPr>
        <p:spPr>
          <a:xfrm>
            <a:off x="7804404" y="3977640"/>
            <a:ext cx="1298448" cy="420624"/>
          </a:xfrm>
          <a:prstGeom prst="roundRect">
            <a:avLst>
              <a:gd name="adj" fmla="val 50000"/>
            </a:avLst>
          </a:prstGeom>
          <a:solidFill>
            <a:srgbClr val="2A3576"/>
          </a:solidFill>
          <a:ln w="9525">
            <a:solidFill>
              <a:srgbClr val="3D4A8F"/>
            </a:solidFill>
            <a:prstDash val="solid"/>
          </a:ln>
        </p:spPr>
      </p:sp>
      <p:sp>
        <p:nvSpPr>
          <p:cNvPr id="18" name="Text 16"/>
          <p:cNvSpPr/>
          <p:nvPr/>
        </p:nvSpPr>
        <p:spPr>
          <a:xfrm>
            <a:off x="7804404" y="3977640"/>
            <a:ext cx="1298448" cy="420624"/>
          </a:xfrm>
          <a:prstGeom prst="rect">
            <a:avLst/>
          </a:prstGeom>
          <a:noFill/>
          <a:ln/>
        </p:spPr>
        <p:txBody>
          <a:bodyPr wrap="square" lIns="0" tIns="0" rIns="0" bIns="0" rtlCol="0" anchor="ctr"/>
          <a:lstStyle/>
          <a:p>
            <a:pPr algn="ctr" indent="0" marL="0">
              <a:buNone/>
            </a:pPr>
            <a:r>
              <a:rPr lang="en-US" sz="1050" b="1" spc="150" kern="0" dirty="0">
                <a:solidFill>
                  <a:srgbClr val="CADCFC"/>
                </a:solidFill>
                <a:latin typeface="Calibri" pitchFamily="34" charset="0"/>
                <a:ea typeface="Calibri" pitchFamily="34" charset="-122"/>
                <a:cs typeface="Calibri" pitchFamily="34" charset="-120"/>
              </a:rPr>
              <a:t>GENERATE</a:t>
            </a:r>
            <a:endParaRPr lang="en-US" sz="1050" dirty="0"/>
          </a:p>
        </p:txBody>
      </p:sp>
      <p:sp>
        <p:nvSpPr>
          <p:cNvPr id="19" name="Text 17"/>
          <p:cNvSpPr/>
          <p:nvPr/>
        </p:nvSpPr>
        <p:spPr>
          <a:xfrm>
            <a:off x="9102852" y="3977640"/>
            <a:ext cx="274320" cy="420624"/>
          </a:xfrm>
          <a:prstGeom prst="rect">
            <a:avLst/>
          </a:prstGeom>
          <a:noFill/>
          <a:ln/>
        </p:spPr>
        <p:txBody>
          <a:bodyPr wrap="square" lIns="0" tIns="0" rIns="0" bIns="0" rtlCol="0" anchor="ctr"/>
          <a:lstStyle/>
          <a:p>
            <a:pPr algn="ctr" indent="0" marL="0">
              <a:buNone/>
            </a:pPr>
            <a:r>
              <a:rPr lang="en-US" sz="1300" dirty="0">
                <a:solidFill>
                  <a:srgbClr val="6A7BC4"/>
                </a:solidFill>
                <a:latin typeface="Calibri" pitchFamily="34" charset="0"/>
                <a:ea typeface="Calibri" pitchFamily="34" charset="-122"/>
                <a:cs typeface="Calibri" pitchFamily="34" charset="-120"/>
              </a:rPr>
              <a:t>→</a:t>
            </a:r>
            <a:endParaRPr lang="en-US" sz="1300" dirty="0"/>
          </a:p>
        </p:txBody>
      </p:sp>
      <p:sp>
        <p:nvSpPr>
          <p:cNvPr id="20" name="Shape 18"/>
          <p:cNvSpPr/>
          <p:nvPr/>
        </p:nvSpPr>
        <p:spPr>
          <a:xfrm>
            <a:off x="9377172" y="3977640"/>
            <a:ext cx="1298448" cy="420624"/>
          </a:xfrm>
          <a:prstGeom prst="roundRect">
            <a:avLst>
              <a:gd name="adj" fmla="val 50000"/>
            </a:avLst>
          </a:prstGeom>
          <a:solidFill>
            <a:srgbClr val="2A3576"/>
          </a:solidFill>
          <a:ln w="9525">
            <a:solidFill>
              <a:srgbClr val="3D4A8F"/>
            </a:solidFill>
            <a:prstDash val="solid"/>
          </a:ln>
        </p:spPr>
      </p:sp>
      <p:sp>
        <p:nvSpPr>
          <p:cNvPr id="21" name="Text 19"/>
          <p:cNvSpPr/>
          <p:nvPr/>
        </p:nvSpPr>
        <p:spPr>
          <a:xfrm>
            <a:off x="9377172" y="3977640"/>
            <a:ext cx="1298448" cy="420624"/>
          </a:xfrm>
          <a:prstGeom prst="rect">
            <a:avLst/>
          </a:prstGeom>
          <a:noFill/>
          <a:ln/>
        </p:spPr>
        <p:txBody>
          <a:bodyPr wrap="square" lIns="0" tIns="0" rIns="0" bIns="0" rtlCol="0" anchor="ctr"/>
          <a:lstStyle/>
          <a:p>
            <a:pPr algn="ctr" indent="0" marL="0">
              <a:buNone/>
            </a:pPr>
            <a:r>
              <a:rPr lang="en-US" sz="1050" b="1" spc="150" kern="0" dirty="0">
                <a:solidFill>
                  <a:srgbClr val="CADCFC"/>
                </a:solidFill>
                <a:latin typeface="Calibri" pitchFamily="34" charset="0"/>
                <a:ea typeface="Calibri" pitchFamily="34" charset="-122"/>
                <a:cs typeface="Calibri" pitchFamily="34" charset="-120"/>
              </a:rPr>
              <a:t>EVALUATE</a:t>
            </a:r>
            <a:endParaRPr lang="en-US" sz="1050" dirty="0"/>
          </a:p>
        </p:txBody>
      </p:sp>
      <p:sp>
        <p:nvSpPr>
          <p:cNvPr id="22" name="Text 20"/>
          <p:cNvSpPr/>
          <p:nvPr/>
        </p:nvSpPr>
        <p:spPr>
          <a:xfrm>
            <a:off x="822960" y="5230368"/>
            <a:ext cx="7315200" cy="36576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Yogesh A Gowda</a:t>
            </a:r>
            <a:endParaRPr lang="en-US" sz="1900" dirty="0"/>
          </a:p>
        </p:txBody>
      </p:sp>
      <p:sp>
        <p:nvSpPr>
          <p:cNvPr id="23" name="Text 21"/>
          <p:cNvSpPr/>
          <p:nvPr/>
        </p:nvSpPr>
        <p:spPr>
          <a:xfrm>
            <a:off x="822960" y="5650992"/>
            <a:ext cx="10058400" cy="292608"/>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USN 24MDA098   ·   Indian Institute of Information Technology, Dharwad</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5486400" cy="219456"/>
          </a:xfrm>
          <a:prstGeom prst="rect">
            <a:avLst/>
          </a:prstGeom>
          <a:noFill/>
          <a:ln/>
        </p:spPr>
        <p:txBody>
          <a:bodyPr wrap="square" lIns="0" tIns="0" rIns="0" bIns="0" rtlCol="0" anchor="ctr"/>
          <a:lstStyle/>
          <a:p>
            <a:pPr indent="0" marL="0">
              <a:buNone/>
            </a:pPr>
            <a:r>
              <a:rPr lang="en-US" sz="950" b="1" spc="300" kern="0" dirty="0">
                <a:solidFill>
                  <a:srgbClr val="7C88A6"/>
                </a:solidFill>
                <a:latin typeface="Calibri" pitchFamily="34" charset="0"/>
                <a:ea typeface="Calibri" pitchFamily="34" charset="-122"/>
                <a:cs typeface="Calibri" pitchFamily="34" charset="-120"/>
              </a:rPr>
              <a:t>LECTUREBANK RAG CHATBOT</a:t>
            </a:r>
            <a:endParaRPr lang="en-US" sz="950" dirty="0"/>
          </a:p>
        </p:txBody>
      </p:sp>
      <p:sp>
        <p:nvSpPr>
          <p:cNvPr id="3" name="Text 1"/>
          <p:cNvSpPr/>
          <p:nvPr/>
        </p:nvSpPr>
        <p:spPr>
          <a:xfrm>
            <a:off x="457200" y="512064"/>
            <a:ext cx="11247120" cy="621792"/>
          </a:xfrm>
          <a:prstGeom prst="rect">
            <a:avLst/>
          </a:prstGeom>
          <a:noFill/>
          <a:ln/>
        </p:spPr>
        <p:txBody>
          <a:bodyPr wrap="square" lIns="0" tIns="0" rIns="0" bIns="0" rtlCol="0" anchor="ctr"/>
          <a:lstStyle/>
          <a:p>
            <a:pPr indent="0" marL="0">
              <a:buNone/>
            </a:pPr>
            <a:r>
              <a:rPr lang="en-US" sz="3600" b="1" dirty="0">
                <a:solidFill>
                  <a:srgbClr val="1E2761"/>
                </a:solidFill>
                <a:latin typeface="Cambria" pitchFamily="34" charset="0"/>
                <a:ea typeface="Cambria" pitchFamily="34" charset="-122"/>
                <a:cs typeface="Cambria" pitchFamily="34" charset="-120"/>
              </a:rPr>
              <a:t>System Architecture</a:t>
            </a:r>
            <a:endParaRPr lang="en-US" sz="3600" dirty="0"/>
          </a:p>
        </p:txBody>
      </p:sp>
      <p:sp>
        <p:nvSpPr>
          <p:cNvPr id="4" name="Text 2"/>
          <p:cNvSpPr/>
          <p:nvPr/>
        </p:nvSpPr>
        <p:spPr>
          <a:xfrm>
            <a:off x="11475720" y="6510528"/>
            <a:ext cx="502920" cy="237744"/>
          </a:xfrm>
          <a:prstGeom prst="rect">
            <a:avLst/>
          </a:prstGeom>
          <a:noFill/>
          <a:ln/>
        </p:spPr>
        <p:txBody>
          <a:bodyPr wrap="square" lIns="0" tIns="0" rIns="0" bIns="0" rtlCol="0" anchor="ctr"/>
          <a:lstStyle/>
          <a:p>
            <a:pPr algn="r" indent="0" marL="0">
              <a:buNone/>
            </a:pPr>
            <a:r>
              <a:rPr lang="en-US" sz="900" dirty="0">
                <a:solidFill>
                  <a:srgbClr val="7C88A6"/>
                </a:solidFill>
                <a:latin typeface="Calibri" pitchFamily="34" charset="0"/>
                <a:ea typeface="Calibri" pitchFamily="34" charset="-122"/>
                <a:cs typeface="Calibri" pitchFamily="34" charset="-120"/>
              </a:rPr>
              <a:t>2</a:t>
            </a:r>
            <a:endParaRPr lang="en-US" sz="900" dirty="0"/>
          </a:p>
        </p:txBody>
      </p:sp>
      <p:sp>
        <p:nvSpPr>
          <p:cNvPr id="5" name="Text 3"/>
          <p:cNvSpPr/>
          <p:nvPr/>
        </p:nvSpPr>
        <p:spPr>
          <a:xfrm>
            <a:off x="457200" y="1188720"/>
            <a:ext cx="3657600" cy="219456"/>
          </a:xfrm>
          <a:prstGeom prst="rect">
            <a:avLst/>
          </a:prstGeom>
          <a:noFill/>
          <a:ln/>
        </p:spPr>
        <p:txBody>
          <a:bodyPr wrap="square" lIns="0" tIns="0" rIns="0" bIns="0" rtlCol="0" anchor="ctr"/>
          <a:lstStyle/>
          <a:p>
            <a:pPr indent="0" marL="0">
              <a:buNone/>
            </a:pPr>
            <a:r>
              <a:rPr lang="en-US" sz="950" b="1" spc="250" kern="0" dirty="0">
                <a:solidFill>
                  <a:srgbClr val="7C88A6"/>
                </a:solidFill>
                <a:latin typeface="Calibri" pitchFamily="34" charset="0"/>
                <a:ea typeface="Calibri" pitchFamily="34" charset="-122"/>
                <a:cs typeface="Calibri" pitchFamily="34" charset="-120"/>
              </a:rPr>
              <a:t>INDEXING  ·  OFFLINE</a:t>
            </a:r>
            <a:endParaRPr lang="en-US" sz="950" dirty="0"/>
          </a:p>
        </p:txBody>
      </p:sp>
      <p:sp>
        <p:nvSpPr>
          <p:cNvPr id="6" name="Shape 4"/>
          <p:cNvSpPr/>
          <p:nvPr/>
        </p:nvSpPr>
        <p:spPr>
          <a:xfrm>
            <a:off x="457200" y="1444752"/>
            <a:ext cx="2468880" cy="1005840"/>
          </a:xfrm>
          <a:prstGeom prst="roundRect">
            <a:avLst>
              <a:gd name="adj" fmla="val 6364"/>
            </a:avLst>
          </a:prstGeom>
          <a:solidFill>
            <a:srgbClr val="EEF3FB"/>
          </a:solidFill>
          <a:ln/>
        </p:spPr>
      </p:sp>
      <p:sp>
        <p:nvSpPr>
          <p:cNvPr id="7" name="Text 5"/>
          <p:cNvSpPr/>
          <p:nvPr/>
        </p:nvSpPr>
        <p:spPr>
          <a:xfrm>
            <a:off x="585216" y="1517904"/>
            <a:ext cx="2212848" cy="859536"/>
          </a:xfrm>
          <a:prstGeom prst="rect">
            <a:avLst/>
          </a:prstGeom>
          <a:noFill/>
          <a:ln/>
        </p:spPr>
        <p:txBody>
          <a:bodyPr wrap="square" lIns="0" tIns="0" rIns="0" bIns="0" rtlCol="0" anchor="t"/>
          <a:lstStyle/>
          <a:p>
            <a:pPr indent="0" marL="0">
              <a:lnSpc>
                <a:spcPct val="105000"/>
              </a:lnSpc>
              <a:buNone/>
            </a:pPr>
            <a:r>
              <a:rPr lang="en-US" sz="1250" b="1" dirty="0">
                <a:solidFill>
                  <a:srgbClr val="1E2761"/>
                </a:solidFill>
                <a:latin typeface="Calibri" pitchFamily="34" charset="0"/>
                <a:ea typeface="Calibri" pitchFamily="34" charset="-122"/>
                <a:cs typeface="Calibri" pitchFamily="34" charset="-120"/>
              </a:rPr>
              <a:t>Corpus</a:t>
            </a:r>
            <a:endParaRPr lang="en-US" sz="1250" dirty="0"/>
          </a:p>
          <a:p>
            <a:pPr indent="0" marL="0">
              <a:lnSpc>
                <a:spcPct val="105000"/>
              </a:lnSpc>
              <a:buNone/>
            </a:pPr>
            <a:r>
              <a:rPr lang="en-US" sz="850" dirty="0">
                <a:solidFill>
                  <a:srgbClr val="3A4560"/>
                </a:solidFill>
                <a:latin typeface="Calibri" pitchFamily="34" charset="0"/>
                <a:ea typeface="Calibri" pitchFamily="34" charset="-122"/>
                <a:cs typeface="Calibri" pitchFamily="34" charset="-120"/>
              </a:rPr>
              <a:t>LectureBank alldata.tsv — 7,499 rows (first 500 ingested) + 16 PDF decks via PyPDFLoader</a:t>
            </a:r>
            <a:endParaRPr lang="en-US" sz="1250" dirty="0"/>
          </a:p>
        </p:txBody>
      </p:sp>
      <p:sp>
        <p:nvSpPr>
          <p:cNvPr id="8" name="Shape 6"/>
          <p:cNvSpPr/>
          <p:nvPr/>
        </p:nvSpPr>
        <p:spPr>
          <a:xfrm>
            <a:off x="2990088" y="1947672"/>
            <a:ext cx="283464" cy="0"/>
          </a:xfrm>
          <a:prstGeom prst="line">
            <a:avLst/>
          </a:prstGeom>
          <a:noFill/>
          <a:ln w="25400">
            <a:solidFill>
              <a:srgbClr val="9AA8C8"/>
            </a:solidFill>
            <a:prstDash val="solid"/>
            <a:tailEnd type="triangle"/>
          </a:ln>
        </p:spPr>
      </p:sp>
      <p:sp>
        <p:nvSpPr>
          <p:cNvPr id="9" name="Shape 7"/>
          <p:cNvSpPr/>
          <p:nvPr/>
        </p:nvSpPr>
        <p:spPr>
          <a:xfrm>
            <a:off x="3337560" y="1444752"/>
            <a:ext cx="2468880" cy="1005840"/>
          </a:xfrm>
          <a:prstGeom prst="roundRect">
            <a:avLst>
              <a:gd name="adj" fmla="val 6364"/>
            </a:avLst>
          </a:prstGeom>
          <a:solidFill>
            <a:srgbClr val="EEF3FB"/>
          </a:solidFill>
          <a:ln/>
        </p:spPr>
      </p:sp>
      <p:sp>
        <p:nvSpPr>
          <p:cNvPr id="10" name="Text 8"/>
          <p:cNvSpPr/>
          <p:nvPr/>
        </p:nvSpPr>
        <p:spPr>
          <a:xfrm>
            <a:off x="3465576" y="1517904"/>
            <a:ext cx="2212848" cy="859536"/>
          </a:xfrm>
          <a:prstGeom prst="rect">
            <a:avLst/>
          </a:prstGeom>
          <a:noFill/>
          <a:ln/>
        </p:spPr>
        <p:txBody>
          <a:bodyPr wrap="square" lIns="0" tIns="0" rIns="0" bIns="0" rtlCol="0" anchor="t"/>
          <a:lstStyle/>
          <a:p>
            <a:pPr indent="0" marL="0">
              <a:lnSpc>
                <a:spcPct val="105000"/>
              </a:lnSpc>
              <a:buNone/>
            </a:pPr>
            <a:r>
              <a:rPr lang="en-US" sz="1250" b="1" dirty="0">
                <a:solidFill>
                  <a:srgbClr val="1E2761"/>
                </a:solidFill>
                <a:latin typeface="Calibri" pitchFamily="34" charset="0"/>
                <a:ea typeface="Calibri" pitchFamily="34" charset="-122"/>
                <a:cs typeface="Calibri" pitchFamily="34" charset="-120"/>
              </a:rPr>
              <a:t>Chunking</a:t>
            </a:r>
            <a:endParaRPr lang="en-US" sz="1250" dirty="0"/>
          </a:p>
          <a:p>
            <a:pPr indent="0" marL="0">
              <a:lnSpc>
                <a:spcPct val="105000"/>
              </a:lnSpc>
              <a:buNone/>
            </a:pPr>
            <a:r>
              <a:rPr lang="en-US" sz="850" dirty="0">
                <a:solidFill>
                  <a:srgbClr val="3A4560"/>
                </a:solidFill>
                <a:latin typeface="Calibri" pitchFamily="34" charset="0"/>
                <a:ea typeface="Calibri" pitchFamily="34" charset="-122"/>
                <a:cs typeface="Calibri" pitchFamily="34" charset="-120"/>
              </a:rPr>
              <a:t>RecursiveCharacterTextSplitter</a:t>
            </a:r>
            <a:endParaRPr lang="en-US" sz="1250" dirty="0"/>
          </a:p>
          <a:p>
            <a:pPr indent="0" marL="0">
              <a:lnSpc>
                <a:spcPct val="105000"/>
              </a:lnSpc>
              <a:buNone/>
            </a:pPr>
            <a:r>
              <a:rPr lang="en-US" sz="850" dirty="0">
                <a:solidFill>
                  <a:srgbClr val="3A4560"/>
                </a:solidFill>
                <a:latin typeface="Calibri" pitchFamily="34" charset="0"/>
                <a:ea typeface="Calibri" pitchFamily="34" charset="-122"/>
                <a:cs typeface="Calibri" pitchFamily="34" charset="-120"/>
              </a:rPr>
              <a:t>500 chars · 50 overlap</a:t>
            </a:r>
            <a:endParaRPr lang="en-US" sz="1250" dirty="0"/>
          </a:p>
        </p:txBody>
      </p:sp>
      <p:sp>
        <p:nvSpPr>
          <p:cNvPr id="11" name="Shape 9"/>
          <p:cNvSpPr/>
          <p:nvPr/>
        </p:nvSpPr>
        <p:spPr>
          <a:xfrm>
            <a:off x="5870448" y="1947672"/>
            <a:ext cx="283464" cy="0"/>
          </a:xfrm>
          <a:prstGeom prst="line">
            <a:avLst/>
          </a:prstGeom>
          <a:noFill/>
          <a:ln w="25400">
            <a:solidFill>
              <a:srgbClr val="9AA8C8"/>
            </a:solidFill>
            <a:prstDash val="solid"/>
            <a:tailEnd type="triangle"/>
          </a:ln>
        </p:spPr>
      </p:sp>
      <p:sp>
        <p:nvSpPr>
          <p:cNvPr id="12" name="Shape 10"/>
          <p:cNvSpPr/>
          <p:nvPr/>
        </p:nvSpPr>
        <p:spPr>
          <a:xfrm>
            <a:off x="6217920" y="1444752"/>
            <a:ext cx="2468880" cy="1005840"/>
          </a:xfrm>
          <a:prstGeom prst="roundRect">
            <a:avLst>
              <a:gd name="adj" fmla="val 6364"/>
            </a:avLst>
          </a:prstGeom>
          <a:solidFill>
            <a:srgbClr val="EEF3FB"/>
          </a:solidFill>
          <a:ln/>
        </p:spPr>
      </p:sp>
      <p:sp>
        <p:nvSpPr>
          <p:cNvPr id="13" name="Text 11"/>
          <p:cNvSpPr/>
          <p:nvPr/>
        </p:nvSpPr>
        <p:spPr>
          <a:xfrm>
            <a:off x="6345936" y="1517904"/>
            <a:ext cx="2212848" cy="859536"/>
          </a:xfrm>
          <a:prstGeom prst="rect">
            <a:avLst/>
          </a:prstGeom>
          <a:noFill/>
          <a:ln/>
        </p:spPr>
        <p:txBody>
          <a:bodyPr wrap="square" lIns="0" tIns="0" rIns="0" bIns="0" rtlCol="0" anchor="t"/>
          <a:lstStyle/>
          <a:p>
            <a:pPr indent="0" marL="0">
              <a:lnSpc>
                <a:spcPct val="105000"/>
              </a:lnSpc>
              <a:buNone/>
            </a:pPr>
            <a:r>
              <a:rPr lang="en-US" sz="1250" b="1" dirty="0">
                <a:solidFill>
                  <a:srgbClr val="1E2761"/>
                </a:solidFill>
                <a:latin typeface="Calibri" pitchFamily="34" charset="0"/>
                <a:ea typeface="Calibri" pitchFamily="34" charset="-122"/>
                <a:cs typeface="Calibri" pitchFamily="34" charset="-120"/>
              </a:rPr>
              <a:t>Embeddings</a:t>
            </a:r>
            <a:endParaRPr lang="en-US" sz="1250" dirty="0"/>
          </a:p>
          <a:p>
            <a:pPr indent="0" marL="0">
              <a:lnSpc>
                <a:spcPct val="105000"/>
              </a:lnSpc>
              <a:buNone/>
            </a:pPr>
            <a:r>
              <a:rPr lang="en-US" sz="850" dirty="0">
                <a:solidFill>
                  <a:srgbClr val="3A4560"/>
                </a:solidFill>
                <a:latin typeface="Calibri" pitchFamily="34" charset="0"/>
                <a:ea typeface="Calibri" pitchFamily="34" charset="-122"/>
                <a:cs typeface="Calibri" pitchFamily="34" charset="-120"/>
              </a:rPr>
              <a:t>all-MiniLM-L6-v2</a:t>
            </a:r>
            <a:endParaRPr lang="en-US" sz="1250" dirty="0"/>
          </a:p>
          <a:p>
            <a:pPr indent="0" marL="0">
              <a:lnSpc>
                <a:spcPct val="105000"/>
              </a:lnSpc>
              <a:buNone/>
            </a:pPr>
            <a:r>
              <a:rPr lang="en-US" sz="850" dirty="0">
                <a:solidFill>
                  <a:srgbClr val="3A4560"/>
                </a:solidFill>
                <a:latin typeface="Calibri" pitchFamily="34" charset="0"/>
                <a:ea typeface="Calibri" pitchFamily="34" charset="-122"/>
                <a:cs typeface="Calibri" pitchFamily="34" charset="-120"/>
              </a:rPr>
              <a:t>local, CPU-only · 384-dim</a:t>
            </a:r>
            <a:endParaRPr lang="en-US" sz="1250" dirty="0"/>
          </a:p>
        </p:txBody>
      </p:sp>
      <p:sp>
        <p:nvSpPr>
          <p:cNvPr id="14" name="Shape 12"/>
          <p:cNvSpPr/>
          <p:nvPr/>
        </p:nvSpPr>
        <p:spPr>
          <a:xfrm>
            <a:off x="8750808" y="1947672"/>
            <a:ext cx="283464" cy="0"/>
          </a:xfrm>
          <a:prstGeom prst="line">
            <a:avLst/>
          </a:prstGeom>
          <a:noFill/>
          <a:ln w="25400">
            <a:solidFill>
              <a:srgbClr val="9AA8C8"/>
            </a:solidFill>
            <a:prstDash val="solid"/>
            <a:tailEnd type="triangle"/>
          </a:ln>
        </p:spPr>
      </p:sp>
      <p:sp>
        <p:nvSpPr>
          <p:cNvPr id="15" name="Shape 13"/>
          <p:cNvSpPr/>
          <p:nvPr/>
        </p:nvSpPr>
        <p:spPr>
          <a:xfrm>
            <a:off x="9098280" y="1444752"/>
            <a:ext cx="2468880" cy="1005840"/>
          </a:xfrm>
          <a:prstGeom prst="roundRect">
            <a:avLst>
              <a:gd name="adj" fmla="val 6364"/>
            </a:avLst>
          </a:prstGeom>
          <a:solidFill>
            <a:srgbClr val="EEF3FB"/>
          </a:solidFill>
          <a:ln/>
        </p:spPr>
      </p:sp>
      <p:sp>
        <p:nvSpPr>
          <p:cNvPr id="16" name="Text 14"/>
          <p:cNvSpPr/>
          <p:nvPr/>
        </p:nvSpPr>
        <p:spPr>
          <a:xfrm>
            <a:off x="9226296" y="1517904"/>
            <a:ext cx="2212848" cy="859536"/>
          </a:xfrm>
          <a:prstGeom prst="rect">
            <a:avLst/>
          </a:prstGeom>
          <a:noFill/>
          <a:ln/>
        </p:spPr>
        <p:txBody>
          <a:bodyPr wrap="square" lIns="0" tIns="0" rIns="0" bIns="0" rtlCol="0" anchor="t"/>
          <a:lstStyle/>
          <a:p>
            <a:pPr indent="0" marL="0">
              <a:lnSpc>
                <a:spcPct val="105000"/>
              </a:lnSpc>
              <a:buNone/>
            </a:pPr>
            <a:r>
              <a:rPr lang="en-US" sz="1250" b="1" dirty="0">
                <a:solidFill>
                  <a:srgbClr val="1E2761"/>
                </a:solidFill>
                <a:latin typeface="Calibri" pitchFamily="34" charset="0"/>
                <a:ea typeface="Calibri" pitchFamily="34" charset="-122"/>
                <a:cs typeface="Calibri" pitchFamily="34" charset="-120"/>
              </a:rPr>
              <a:t>Vector store</a:t>
            </a:r>
            <a:endParaRPr lang="en-US" sz="1250" dirty="0"/>
          </a:p>
          <a:p>
            <a:pPr indent="0" marL="0">
              <a:lnSpc>
                <a:spcPct val="105000"/>
              </a:lnSpc>
              <a:buNone/>
            </a:pPr>
            <a:r>
              <a:rPr lang="en-US" sz="850" dirty="0">
                <a:solidFill>
                  <a:srgbClr val="3A4560"/>
                </a:solidFill>
                <a:latin typeface="Calibri" pitchFamily="34" charset="0"/>
                <a:ea typeface="Calibri" pitchFamily="34" charset="-122"/>
                <a:cs typeface="Calibri" pitchFamily="34" charset="-120"/>
              </a:rPr>
              <a:t>ChromaDB · cosine (hnsw)</a:t>
            </a:r>
            <a:endParaRPr lang="en-US" sz="1250" dirty="0"/>
          </a:p>
          <a:p>
            <a:pPr indent="0" marL="0">
              <a:lnSpc>
                <a:spcPct val="105000"/>
              </a:lnSpc>
              <a:buNone/>
            </a:pPr>
            <a:r>
              <a:rPr lang="en-US" sz="850" dirty="0">
                <a:solidFill>
                  <a:srgbClr val="3A4560"/>
                </a:solidFill>
                <a:latin typeface="Calibri" pitchFamily="34" charset="0"/>
                <a:ea typeface="Calibri" pitchFamily="34" charset="-122"/>
                <a:cs typeface="Calibri" pitchFamily="34" charset="-120"/>
              </a:rPr>
              <a:t>4,575 chunks</a:t>
            </a:r>
            <a:endParaRPr lang="en-US" sz="1250" dirty="0"/>
          </a:p>
        </p:txBody>
      </p:sp>
      <p:sp>
        <p:nvSpPr>
          <p:cNvPr id="17" name="Shape 15"/>
          <p:cNvSpPr/>
          <p:nvPr/>
        </p:nvSpPr>
        <p:spPr>
          <a:xfrm>
            <a:off x="10332720" y="2450592"/>
            <a:ext cx="0" cy="457200"/>
          </a:xfrm>
          <a:prstGeom prst="line">
            <a:avLst/>
          </a:prstGeom>
          <a:noFill/>
          <a:ln w="19050">
            <a:solidFill>
              <a:srgbClr val="9AA8C8"/>
            </a:solidFill>
            <a:prstDash val="solid"/>
          </a:ln>
        </p:spPr>
      </p:sp>
      <p:sp>
        <p:nvSpPr>
          <p:cNvPr id="18" name="Shape 16"/>
          <p:cNvSpPr/>
          <p:nvPr/>
        </p:nvSpPr>
        <p:spPr>
          <a:xfrm>
            <a:off x="3771900" y="2907792"/>
            <a:ext cx="6560820" cy="0"/>
          </a:xfrm>
          <a:prstGeom prst="line">
            <a:avLst/>
          </a:prstGeom>
          <a:noFill/>
          <a:ln w="19050">
            <a:solidFill>
              <a:srgbClr val="9AA8C8"/>
            </a:solidFill>
            <a:prstDash val="solid"/>
          </a:ln>
        </p:spPr>
      </p:sp>
      <p:sp>
        <p:nvSpPr>
          <p:cNvPr id="19" name="Shape 17"/>
          <p:cNvSpPr/>
          <p:nvPr/>
        </p:nvSpPr>
        <p:spPr>
          <a:xfrm>
            <a:off x="3771900" y="2907792"/>
            <a:ext cx="0" cy="457200"/>
          </a:xfrm>
          <a:prstGeom prst="line">
            <a:avLst/>
          </a:prstGeom>
          <a:noFill/>
          <a:ln w="19050">
            <a:solidFill>
              <a:srgbClr val="9AA8C8"/>
            </a:solidFill>
            <a:prstDash val="solid"/>
            <a:tailEnd type="triangle"/>
          </a:ln>
        </p:spPr>
      </p:sp>
      <p:sp>
        <p:nvSpPr>
          <p:cNvPr id="20" name="Text 18"/>
          <p:cNvSpPr/>
          <p:nvPr/>
        </p:nvSpPr>
        <p:spPr>
          <a:xfrm>
            <a:off x="4937760" y="2651760"/>
            <a:ext cx="4206240" cy="201168"/>
          </a:xfrm>
          <a:prstGeom prst="rect">
            <a:avLst/>
          </a:prstGeom>
          <a:noFill/>
          <a:ln/>
        </p:spPr>
        <p:txBody>
          <a:bodyPr wrap="square" lIns="0" tIns="0" rIns="0" bIns="0" rtlCol="0" anchor="ctr"/>
          <a:lstStyle/>
          <a:p>
            <a:pPr algn="ctr" indent="0" marL="0">
              <a:buNone/>
            </a:pPr>
            <a:r>
              <a:rPr lang="en-US" sz="900" i="1" dirty="0">
                <a:solidFill>
                  <a:srgbClr val="7C88A6"/>
                </a:solidFill>
                <a:latin typeface="Calibri" pitchFamily="34" charset="0"/>
                <a:ea typeface="Calibri" pitchFamily="34" charset="-122"/>
                <a:cs typeface="Calibri" pitchFamily="34" charset="-120"/>
              </a:rPr>
              <a:t>similarity search over 4,575 chunks</a:t>
            </a:r>
            <a:endParaRPr lang="en-US" sz="900" dirty="0"/>
          </a:p>
        </p:txBody>
      </p:sp>
      <p:sp>
        <p:nvSpPr>
          <p:cNvPr id="21" name="Text 19"/>
          <p:cNvSpPr/>
          <p:nvPr/>
        </p:nvSpPr>
        <p:spPr>
          <a:xfrm>
            <a:off x="457200" y="3072384"/>
            <a:ext cx="3108960" cy="219456"/>
          </a:xfrm>
          <a:prstGeom prst="rect">
            <a:avLst/>
          </a:prstGeom>
          <a:noFill/>
          <a:ln/>
        </p:spPr>
        <p:txBody>
          <a:bodyPr wrap="square" lIns="0" tIns="0" rIns="0" bIns="0" rtlCol="0" anchor="ctr"/>
          <a:lstStyle/>
          <a:p>
            <a:pPr indent="0" marL="0">
              <a:buNone/>
            </a:pPr>
            <a:r>
              <a:rPr lang="en-US" sz="950" b="1" spc="250" kern="0" dirty="0">
                <a:solidFill>
                  <a:srgbClr val="7C88A6"/>
                </a:solidFill>
                <a:latin typeface="Calibri" pitchFamily="34" charset="0"/>
                <a:ea typeface="Calibri" pitchFamily="34" charset="-122"/>
                <a:cs typeface="Calibri" pitchFamily="34" charset="-120"/>
              </a:rPr>
              <a:t>QUERY PATH  ·  ONLINE</a:t>
            </a:r>
            <a:endParaRPr lang="en-US" sz="950" dirty="0"/>
          </a:p>
        </p:txBody>
      </p:sp>
      <p:sp>
        <p:nvSpPr>
          <p:cNvPr id="22" name="Shape 20"/>
          <p:cNvSpPr/>
          <p:nvPr/>
        </p:nvSpPr>
        <p:spPr>
          <a:xfrm>
            <a:off x="457200" y="3364992"/>
            <a:ext cx="2039112" cy="1143000"/>
          </a:xfrm>
          <a:prstGeom prst="roundRect">
            <a:avLst>
              <a:gd name="adj" fmla="val 5600"/>
            </a:avLst>
          </a:prstGeom>
          <a:solidFill>
            <a:srgbClr val="FFFFFF"/>
          </a:solidFill>
          <a:ln w="12700">
            <a:solidFill>
              <a:srgbClr val="D9E2F4"/>
            </a:solidFill>
            <a:prstDash val="solid"/>
          </a:ln>
        </p:spPr>
      </p:sp>
      <p:sp>
        <p:nvSpPr>
          <p:cNvPr id="23" name="Text 21"/>
          <p:cNvSpPr/>
          <p:nvPr/>
        </p:nvSpPr>
        <p:spPr>
          <a:xfrm>
            <a:off x="566928" y="3447288"/>
            <a:ext cx="1819656" cy="978408"/>
          </a:xfrm>
          <a:prstGeom prst="rect">
            <a:avLst/>
          </a:prstGeom>
          <a:noFill/>
          <a:ln/>
        </p:spPr>
        <p:txBody>
          <a:bodyPr wrap="square" lIns="0" tIns="0" rIns="0" bIns="0" rtlCol="0" anchor="t"/>
          <a:lstStyle/>
          <a:p>
            <a:pPr indent="0" marL="0">
              <a:lnSpc>
                <a:spcPct val="105000"/>
              </a:lnSpc>
              <a:buNone/>
            </a:pPr>
            <a:r>
              <a:rPr lang="en-US" sz="1200" b="1" dirty="0">
                <a:solidFill>
                  <a:srgbClr val="1E2761"/>
                </a:solidFill>
                <a:latin typeface="Calibri" pitchFamily="34" charset="0"/>
                <a:ea typeface="Calibri" pitchFamily="34" charset="-122"/>
                <a:cs typeface="Calibri" pitchFamily="34" charset="-120"/>
              </a:rPr>
              <a:t>User question</a:t>
            </a:r>
            <a:endParaRPr lang="en-US" sz="1200" dirty="0"/>
          </a:p>
          <a:p>
            <a:pPr indent="0" marL="0">
              <a:lnSpc>
                <a:spcPct val="105000"/>
              </a:lnSpc>
              <a:buNone/>
            </a:pPr>
            <a:r>
              <a:rPr lang="en-US" sz="850" dirty="0">
                <a:solidFill>
                  <a:srgbClr val="3A4560"/>
                </a:solidFill>
                <a:latin typeface="Calibri" pitchFamily="34" charset="0"/>
                <a:ea typeface="Calibri" pitchFamily="34" charset="-122"/>
                <a:cs typeface="Calibri" pitchFamily="34" charset="-120"/>
              </a:rPr>
              <a:t>last 3 turns prepended to disambiguate follow-ups</a:t>
            </a:r>
            <a:endParaRPr lang="en-US" sz="1200" dirty="0"/>
          </a:p>
        </p:txBody>
      </p:sp>
      <p:sp>
        <p:nvSpPr>
          <p:cNvPr id="24" name="Shape 22"/>
          <p:cNvSpPr/>
          <p:nvPr/>
        </p:nvSpPr>
        <p:spPr>
          <a:xfrm>
            <a:off x="2542032" y="3936492"/>
            <a:ext cx="164592" cy="0"/>
          </a:xfrm>
          <a:prstGeom prst="line">
            <a:avLst/>
          </a:prstGeom>
          <a:noFill/>
          <a:ln w="25400">
            <a:solidFill>
              <a:srgbClr val="9AA8C8"/>
            </a:solidFill>
            <a:prstDash val="solid"/>
            <a:tailEnd type="triangle"/>
          </a:ln>
        </p:spPr>
      </p:sp>
      <p:sp>
        <p:nvSpPr>
          <p:cNvPr id="25" name="Shape 23"/>
          <p:cNvSpPr/>
          <p:nvPr/>
        </p:nvSpPr>
        <p:spPr>
          <a:xfrm>
            <a:off x="2752344" y="3364992"/>
            <a:ext cx="2039112" cy="1143000"/>
          </a:xfrm>
          <a:prstGeom prst="roundRect">
            <a:avLst>
              <a:gd name="adj" fmla="val 5600"/>
            </a:avLst>
          </a:prstGeom>
          <a:solidFill>
            <a:srgbClr val="FFFFFF"/>
          </a:solidFill>
          <a:ln w="12700">
            <a:solidFill>
              <a:srgbClr val="D9E2F4"/>
            </a:solidFill>
            <a:prstDash val="solid"/>
          </a:ln>
        </p:spPr>
      </p:sp>
      <p:sp>
        <p:nvSpPr>
          <p:cNvPr id="26" name="Text 24"/>
          <p:cNvSpPr/>
          <p:nvPr/>
        </p:nvSpPr>
        <p:spPr>
          <a:xfrm>
            <a:off x="2862072" y="3447288"/>
            <a:ext cx="1819656" cy="978408"/>
          </a:xfrm>
          <a:prstGeom prst="rect">
            <a:avLst/>
          </a:prstGeom>
          <a:noFill/>
          <a:ln/>
        </p:spPr>
        <p:txBody>
          <a:bodyPr wrap="square" lIns="0" tIns="0" rIns="0" bIns="0" rtlCol="0" anchor="t"/>
          <a:lstStyle/>
          <a:p>
            <a:pPr indent="0" marL="0">
              <a:lnSpc>
                <a:spcPct val="105000"/>
              </a:lnSpc>
              <a:buNone/>
            </a:pPr>
            <a:r>
              <a:rPr lang="en-US" sz="1200" b="1" dirty="0">
                <a:solidFill>
                  <a:srgbClr val="1E2761"/>
                </a:solidFill>
                <a:latin typeface="Calibri" pitchFamily="34" charset="0"/>
                <a:ea typeface="Calibri" pitchFamily="34" charset="-122"/>
                <a:cs typeface="Calibri" pitchFamily="34" charset="-120"/>
              </a:rPr>
              <a:t>Retrieve top-5</a:t>
            </a:r>
            <a:endParaRPr lang="en-US" sz="1200" dirty="0"/>
          </a:p>
          <a:p>
            <a:pPr indent="0" marL="0">
              <a:lnSpc>
                <a:spcPct val="105000"/>
              </a:lnSpc>
              <a:buNone/>
            </a:pPr>
            <a:r>
              <a:rPr lang="en-US" sz="850" dirty="0">
                <a:solidFill>
                  <a:srgbClr val="3A4560"/>
                </a:solidFill>
                <a:latin typeface="Calibri" pitchFamily="34" charset="0"/>
                <a:ea typeface="Calibri" pitchFamily="34" charset="-122"/>
                <a:cs typeface="Calibri" pitchFamily="34" charset="-120"/>
              </a:rPr>
              <a:t>cosine similarity search (TOP_K = 5)</a:t>
            </a:r>
            <a:endParaRPr lang="en-US" sz="1200" dirty="0"/>
          </a:p>
        </p:txBody>
      </p:sp>
      <p:sp>
        <p:nvSpPr>
          <p:cNvPr id="27" name="Shape 25"/>
          <p:cNvSpPr/>
          <p:nvPr/>
        </p:nvSpPr>
        <p:spPr>
          <a:xfrm>
            <a:off x="4837176" y="3936492"/>
            <a:ext cx="164592" cy="0"/>
          </a:xfrm>
          <a:prstGeom prst="line">
            <a:avLst/>
          </a:prstGeom>
          <a:noFill/>
          <a:ln w="25400">
            <a:solidFill>
              <a:srgbClr val="9AA8C8"/>
            </a:solidFill>
            <a:prstDash val="solid"/>
            <a:tailEnd type="triangle"/>
          </a:ln>
        </p:spPr>
      </p:sp>
      <p:sp>
        <p:nvSpPr>
          <p:cNvPr id="28" name="Shape 26"/>
          <p:cNvSpPr/>
          <p:nvPr/>
        </p:nvSpPr>
        <p:spPr>
          <a:xfrm>
            <a:off x="5047488" y="3364992"/>
            <a:ext cx="2039112" cy="1143000"/>
          </a:xfrm>
          <a:prstGeom prst="roundRect">
            <a:avLst>
              <a:gd name="adj" fmla="val 5600"/>
            </a:avLst>
          </a:prstGeom>
          <a:solidFill>
            <a:srgbClr val="FBEAD3"/>
          </a:solidFill>
          <a:ln w="12700">
            <a:solidFill>
              <a:srgbClr val="EBCFA4"/>
            </a:solidFill>
            <a:prstDash val="solid"/>
          </a:ln>
        </p:spPr>
      </p:sp>
      <p:sp>
        <p:nvSpPr>
          <p:cNvPr id="29" name="Text 27"/>
          <p:cNvSpPr/>
          <p:nvPr/>
        </p:nvSpPr>
        <p:spPr>
          <a:xfrm>
            <a:off x="5157216" y="3447288"/>
            <a:ext cx="1819656" cy="978408"/>
          </a:xfrm>
          <a:prstGeom prst="rect">
            <a:avLst/>
          </a:prstGeom>
          <a:noFill/>
          <a:ln/>
        </p:spPr>
        <p:txBody>
          <a:bodyPr wrap="square" lIns="0" tIns="0" rIns="0" bIns="0" rtlCol="0" anchor="t"/>
          <a:lstStyle/>
          <a:p>
            <a:pPr indent="0" marL="0">
              <a:lnSpc>
                <a:spcPct val="105000"/>
              </a:lnSpc>
              <a:buNone/>
            </a:pPr>
            <a:r>
              <a:rPr lang="en-US" sz="1200" b="1" dirty="0">
                <a:solidFill>
                  <a:srgbClr val="B45309"/>
                </a:solidFill>
                <a:latin typeface="Calibri" pitchFamily="34" charset="0"/>
                <a:ea typeface="Calibri" pitchFamily="34" charset="-122"/>
                <a:cs typeface="Calibri" pitchFamily="34" charset="-120"/>
              </a:rPr>
              <a:t>Scope gate</a:t>
            </a:r>
            <a:endParaRPr lang="en-US" sz="1200" dirty="0"/>
          </a:p>
          <a:p>
            <a:pPr indent="0" marL="0">
              <a:lnSpc>
                <a:spcPct val="105000"/>
              </a:lnSpc>
              <a:buNone/>
            </a:pPr>
            <a:r>
              <a:rPr lang="en-US" sz="850" dirty="0">
                <a:solidFill>
                  <a:srgbClr val="8A5A20"/>
                </a:solidFill>
                <a:latin typeface="Calibri" pitchFamily="34" charset="0"/>
                <a:ea typeface="Calibri" pitchFamily="34" charset="-122"/>
                <a:cs typeface="Calibri" pitchFamily="34" charset="-120"/>
              </a:rPr>
              <a:t>top relevance score ≥ 0.3 ?</a:t>
            </a:r>
            <a:endParaRPr lang="en-US" sz="1200" dirty="0"/>
          </a:p>
        </p:txBody>
      </p:sp>
      <p:sp>
        <p:nvSpPr>
          <p:cNvPr id="30" name="Shape 28"/>
          <p:cNvSpPr/>
          <p:nvPr/>
        </p:nvSpPr>
        <p:spPr>
          <a:xfrm>
            <a:off x="7132320" y="3936492"/>
            <a:ext cx="164592" cy="0"/>
          </a:xfrm>
          <a:prstGeom prst="line">
            <a:avLst/>
          </a:prstGeom>
          <a:noFill/>
          <a:ln w="25400">
            <a:solidFill>
              <a:srgbClr val="9AA8C8"/>
            </a:solidFill>
            <a:prstDash val="solid"/>
            <a:tailEnd type="triangle"/>
          </a:ln>
        </p:spPr>
      </p:sp>
      <p:sp>
        <p:nvSpPr>
          <p:cNvPr id="31" name="Shape 29"/>
          <p:cNvSpPr/>
          <p:nvPr/>
        </p:nvSpPr>
        <p:spPr>
          <a:xfrm>
            <a:off x="7342632" y="3364992"/>
            <a:ext cx="2039112" cy="1143000"/>
          </a:xfrm>
          <a:prstGeom prst="roundRect">
            <a:avLst>
              <a:gd name="adj" fmla="val 5600"/>
            </a:avLst>
          </a:prstGeom>
          <a:solidFill>
            <a:srgbClr val="1E2761"/>
          </a:solidFill>
          <a:ln/>
        </p:spPr>
      </p:sp>
      <p:sp>
        <p:nvSpPr>
          <p:cNvPr id="32" name="Text 30"/>
          <p:cNvSpPr/>
          <p:nvPr/>
        </p:nvSpPr>
        <p:spPr>
          <a:xfrm>
            <a:off x="7452360" y="3447288"/>
            <a:ext cx="1819656" cy="978408"/>
          </a:xfrm>
          <a:prstGeom prst="rect">
            <a:avLst/>
          </a:prstGeom>
          <a:noFill/>
          <a:ln/>
        </p:spPr>
        <p:txBody>
          <a:bodyPr wrap="square" lIns="0" tIns="0" rIns="0" bIns="0" rtlCol="0" anchor="t"/>
          <a:lstStyle/>
          <a:p>
            <a:pPr indent="0" marL="0">
              <a:lnSpc>
                <a:spcPct val="105000"/>
              </a:lnSpc>
              <a:buNone/>
            </a:pPr>
            <a:r>
              <a:rPr lang="en-US" sz="1200" b="1" dirty="0">
                <a:solidFill>
                  <a:srgbClr val="FFFFFF"/>
                </a:solidFill>
                <a:latin typeface="Calibri" pitchFamily="34" charset="0"/>
                <a:ea typeface="Calibri" pitchFamily="34" charset="-122"/>
                <a:cs typeface="Calibri" pitchFamily="34" charset="-120"/>
              </a:rPr>
              <a:t>Generate</a:t>
            </a:r>
            <a:endParaRPr lang="en-US" sz="1200" dirty="0"/>
          </a:p>
          <a:p>
            <a:pPr indent="0" marL="0">
              <a:lnSpc>
                <a:spcPct val="105000"/>
              </a:lnSpc>
              <a:buNone/>
            </a:pPr>
            <a:r>
              <a:rPr lang="en-US" sz="850" dirty="0">
                <a:solidFill>
                  <a:srgbClr val="CADCFC"/>
                </a:solidFill>
                <a:latin typeface="Calibri" pitchFamily="34" charset="0"/>
                <a:ea typeface="Calibri" pitchFamily="34" charset="-122"/>
                <a:cs typeface="Calibri" pitchFamily="34" charset="-120"/>
              </a:rPr>
              <a:t>Groq llama-3.3-70b ⇄ Ollama llama3.1:8b</a:t>
            </a:r>
            <a:endParaRPr lang="en-US" sz="1200" dirty="0"/>
          </a:p>
          <a:p>
            <a:pPr indent="0" marL="0">
              <a:lnSpc>
                <a:spcPct val="105000"/>
              </a:lnSpc>
              <a:buNone/>
            </a:pPr>
            <a:r>
              <a:rPr lang="en-US" sz="850" dirty="0">
                <a:solidFill>
                  <a:srgbClr val="CADCFC"/>
                </a:solidFill>
                <a:latin typeface="Calibri" pitchFamily="34" charset="0"/>
                <a:ea typeface="Calibri" pitchFamily="34" charset="-122"/>
                <a:cs typeface="Calibri" pitchFamily="34" charset="-120"/>
              </a:rPr>
              <a:t>prompt = question + context + history</a:t>
            </a:r>
            <a:endParaRPr lang="en-US" sz="1200" dirty="0"/>
          </a:p>
        </p:txBody>
      </p:sp>
      <p:sp>
        <p:nvSpPr>
          <p:cNvPr id="33" name="Shape 31"/>
          <p:cNvSpPr/>
          <p:nvPr/>
        </p:nvSpPr>
        <p:spPr>
          <a:xfrm>
            <a:off x="9427464" y="3936492"/>
            <a:ext cx="164592" cy="0"/>
          </a:xfrm>
          <a:prstGeom prst="line">
            <a:avLst/>
          </a:prstGeom>
          <a:noFill/>
          <a:ln w="25400">
            <a:solidFill>
              <a:srgbClr val="9AA8C8"/>
            </a:solidFill>
            <a:prstDash val="solid"/>
            <a:tailEnd type="triangle"/>
          </a:ln>
        </p:spPr>
      </p:sp>
      <p:sp>
        <p:nvSpPr>
          <p:cNvPr id="34" name="Shape 32"/>
          <p:cNvSpPr/>
          <p:nvPr/>
        </p:nvSpPr>
        <p:spPr>
          <a:xfrm>
            <a:off x="9637776" y="3364992"/>
            <a:ext cx="2039112" cy="1143000"/>
          </a:xfrm>
          <a:prstGeom prst="roundRect">
            <a:avLst>
              <a:gd name="adj" fmla="val 5600"/>
            </a:avLst>
          </a:prstGeom>
          <a:solidFill>
            <a:srgbClr val="FFFFFF"/>
          </a:solidFill>
          <a:ln w="12700">
            <a:solidFill>
              <a:srgbClr val="D9E2F4"/>
            </a:solidFill>
            <a:prstDash val="solid"/>
          </a:ln>
        </p:spPr>
      </p:sp>
      <p:sp>
        <p:nvSpPr>
          <p:cNvPr id="35" name="Text 33"/>
          <p:cNvSpPr/>
          <p:nvPr/>
        </p:nvSpPr>
        <p:spPr>
          <a:xfrm>
            <a:off x="9747504" y="3447288"/>
            <a:ext cx="1819656" cy="978408"/>
          </a:xfrm>
          <a:prstGeom prst="rect">
            <a:avLst/>
          </a:prstGeom>
          <a:noFill/>
          <a:ln/>
        </p:spPr>
        <p:txBody>
          <a:bodyPr wrap="square" lIns="0" tIns="0" rIns="0" bIns="0" rtlCol="0" anchor="t"/>
          <a:lstStyle/>
          <a:p>
            <a:pPr indent="0" marL="0">
              <a:lnSpc>
                <a:spcPct val="105000"/>
              </a:lnSpc>
              <a:buNone/>
            </a:pPr>
            <a:r>
              <a:rPr lang="en-US" sz="1200" b="1" dirty="0">
                <a:solidFill>
                  <a:srgbClr val="1E2761"/>
                </a:solidFill>
                <a:latin typeface="Calibri" pitchFamily="34" charset="0"/>
                <a:ea typeface="Calibri" pitchFamily="34" charset="-122"/>
                <a:cs typeface="Calibri" pitchFamily="34" charset="-120"/>
              </a:rPr>
              <a:t>Answer + sources</a:t>
            </a:r>
            <a:endParaRPr lang="en-US" sz="1200" dirty="0"/>
          </a:p>
          <a:p>
            <a:pPr indent="0" marL="0">
              <a:lnSpc>
                <a:spcPct val="105000"/>
              </a:lnSpc>
              <a:buNone/>
            </a:pPr>
            <a:r>
              <a:rPr lang="en-US" sz="850" dirty="0">
                <a:solidFill>
                  <a:srgbClr val="3A4560"/>
                </a:solidFill>
                <a:latin typeface="Calibri" pitchFamily="34" charset="0"/>
                <a:ea typeface="Calibri" pitchFamily="34" charset="-122"/>
                <a:cs typeface="Calibri" pitchFamily="34" charset="-120"/>
              </a:rPr>
              <a:t>cites lectures by number, flags gaps instead of inventing</a:t>
            </a:r>
            <a:endParaRPr lang="en-US" sz="1200" dirty="0"/>
          </a:p>
        </p:txBody>
      </p:sp>
      <p:sp>
        <p:nvSpPr>
          <p:cNvPr id="36" name="Shape 34"/>
          <p:cNvSpPr/>
          <p:nvPr/>
        </p:nvSpPr>
        <p:spPr>
          <a:xfrm>
            <a:off x="6067044" y="4507992"/>
            <a:ext cx="0" cy="365760"/>
          </a:xfrm>
          <a:prstGeom prst="line">
            <a:avLst/>
          </a:prstGeom>
          <a:noFill/>
          <a:ln w="19050">
            <a:solidFill>
              <a:srgbClr val="B45309"/>
            </a:solidFill>
            <a:prstDash val="dash"/>
            <a:tailEnd type="triangle"/>
          </a:ln>
        </p:spPr>
      </p:sp>
      <p:sp>
        <p:nvSpPr>
          <p:cNvPr id="37" name="Shape 35"/>
          <p:cNvSpPr/>
          <p:nvPr/>
        </p:nvSpPr>
        <p:spPr>
          <a:xfrm>
            <a:off x="3593592" y="4892040"/>
            <a:ext cx="4937760" cy="402336"/>
          </a:xfrm>
          <a:prstGeom prst="roundRect">
            <a:avLst>
              <a:gd name="adj" fmla="val 50000"/>
            </a:avLst>
          </a:prstGeom>
          <a:solidFill>
            <a:srgbClr val="FBEAD3"/>
          </a:solidFill>
          <a:ln/>
        </p:spPr>
      </p:sp>
      <p:sp>
        <p:nvSpPr>
          <p:cNvPr id="38" name="Text 36"/>
          <p:cNvSpPr/>
          <p:nvPr/>
        </p:nvSpPr>
        <p:spPr>
          <a:xfrm>
            <a:off x="3593592" y="4892040"/>
            <a:ext cx="4937760" cy="402336"/>
          </a:xfrm>
          <a:prstGeom prst="rect">
            <a:avLst/>
          </a:prstGeom>
          <a:noFill/>
          <a:ln/>
        </p:spPr>
        <p:txBody>
          <a:bodyPr wrap="square" lIns="0" tIns="0" rIns="0" bIns="0" rtlCol="0" anchor="ctr"/>
          <a:lstStyle/>
          <a:p>
            <a:pPr algn="ctr" indent="0" marL="0">
              <a:buNone/>
            </a:pPr>
            <a:r>
              <a:rPr lang="en-US" sz="1000" b="1" dirty="0">
                <a:solidFill>
                  <a:srgbClr val="B45309"/>
                </a:solidFill>
                <a:latin typeface="Calibri" pitchFamily="34" charset="0"/>
                <a:ea typeface="Calibri" pitchFamily="34" charset="-122"/>
                <a:cs typeface="Calibri" pitchFamily="34" charset="-120"/>
              </a:rPr>
              <a:t>score &lt; 0.3  →  canned out-of-scope refusal — the LLM never improvises</a:t>
            </a:r>
            <a:endParaRPr lang="en-US" sz="1000" dirty="0"/>
          </a:p>
        </p:txBody>
      </p:sp>
      <p:sp>
        <p:nvSpPr>
          <p:cNvPr id="39" name="Shape 37"/>
          <p:cNvSpPr/>
          <p:nvPr/>
        </p:nvSpPr>
        <p:spPr>
          <a:xfrm>
            <a:off x="457200" y="5687568"/>
            <a:ext cx="11274552" cy="713232"/>
          </a:xfrm>
          <a:prstGeom prst="roundRect">
            <a:avLst>
              <a:gd name="adj" fmla="val 8974"/>
            </a:avLst>
          </a:prstGeom>
          <a:solidFill>
            <a:srgbClr val="EEF3FB"/>
          </a:solidFill>
          <a:ln/>
        </p:spPr>
      </p:sp>
      <p:sp>
        <p:nvSpPr>
          <p:cNvPr id="40" name="Shape 38"/>
          <p:cNvSpPr/>
          <p:nvPr/>
        </p:nvSpPr>
        <p:spPr>
          <a:xfrm>
            <a:off x="658368" y="5861304"/>
            <a:ext cx="365760" cy="365760"/>
          </a:xfrm>
          <a:prstGeom prst="ellipse">
            <a:avLst/>
          </a:prstGeom>
          <a:solidFill>
            <a:srgbClr val="CADCFC"/>
          </a:solidFill>
          <a:ln/>
        </p:spPr>
      </p:sp>
      <p:pic>
        <p:nvPicPr>
          <p:cNvPr id="41" name="Image 0" descr="/home/claude/icons/message.png">    </p:cNvPr>
          <p:cNvPicPr>
            <a:picLocks noChangeAspect="1"/>
          </p:cNvPicPr>
          <p:nvPr/>
        </p:nvPicPr>
        <p:blipFill>
          <a:blip r:embed="rId1"/>
          <a:stretch>
            <a:fillRect/>
          </a:stretch>
        </p:blipFill>
        <p:spPr>
          <a:xfrm>
            <a:off x="753466" y="5956402"/>
            <a:ext cx="175565" cy="175565"/>
          </a:xfrm>
          <a:prstGeom prst="rect">
            <a:avLst/>
          </a:prstGeom>
        </p:spPr>
      </p:pic>
      <p:sp>
        <p:nvSpPr>
          <p:cNvPr id="42" name="Text 39"/>
          <p:cNvSpPr/>
          <p:nvPr/>
        </p:nvSpPr>
        <p:spPr>
          <a:xfrm>
            <a:off x="1188720" y="5687568"/>
            <a:ext cx="10378440" cy="713232"/>
          </a:xfrm>
          <a:prstGeom prst="rect">
            <a:avLst/>
          </a:prstGeom>
          <a:noFill/>
          <a:ln/>
        </p:spPr>
        <p:txBody>
          <a:bodyPr wrap="square" lIns="0" tIns="0" rIns="0" bIns="0"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Serving  —  </a:t>
            </a:r>
            <a:pPr indent="0" marL="0">
              <a:buNone/>
            </a:pPr>
            <a:r>
              <a:rPr lang="en-US" sz="1150" dirty="0">
                <a:solidFill>
                  <a:srgbClr val="3A4560"/>
                </a:solidFill>
                <a:latin typeface="Calibri" pitchFamily="34" charset="0"/>
                <a:ea typeface="Calibri" pitchFamily="34" charset="-122"/>
                <a:cs typeface="Calibri" pitchFamily="34" charset="-120"/>
              </a:rPr>
              <a:t>FastAPI </a:t>
            </a:r>
            <a:pPr indent="0" marL="0">
              <a:buNone/>
            </a:pPr>
            <a:r>
              <a:rPr lang="en-US" sz="1000" dirty="0">
                <a:solidFill>
                  <a:srgbClr val="1E2761"/>
                </a:solidFill>
                <a:latin typeface="Courier New" pitchFamily="34" charset="0"/>
                <a:ea typeface="Courier New" pitchFamily="34" charset="-122"/>
                <a:cs typeface="Courier New" pitchFamily="34" charset="-120"/>
              </a:rPr>
              <a:t>/api/chat</a:t>
            </a:r>
            <a:pPr indent="0" marL="0">
              <a:buNone/>
            </a:pPr>
            <a:r>
              <a:rPr lang="en-US" sz="1150" dirty="0">
                <a:solidFill>
                  <a:srgbClr val="3A4560"/>
                </a:solidFill>
                <a:latin typeface="Calibri" pitchFamily="34" charset="0"/>
                <a:ea typeface="Calibri" pitchFamily="34" charset="-122"/>
                <a:cs typeface="Calibri" pitchFamily="34" charset="-120"/>
              </a:rPr>
              <a:t>  →  static single-file vanilla JS/CSS/HTML UI with a Groq ⇄ Ollama backend switcher  (uvicorn, port 8000)</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5486400" cy="219456"/>
          </a:xfrm>
          <a:prstGeom prst="rect">
            <a:avLst/>
          </a:prstGeom>
          <a:noFill/>
          <a:ln/>
        </p:spPr>
        <p:txBody>
          <a:bodyPr wrap="square" lIns="0" tIns="0" rIns="0" bIns="0" rtlCol="0" anchor="ctr"/>
          <a:lstStyle/>
          <a:p>
            <a:pPr indent="0" marL="0">
              <a:buNone/>
            </a:pPr>
            <a:r>
              <a:rPr lang="en-US" sz="950" b="1" spc="300" kern="0" dirty="0">
                <a:solidFill>
                  <a:srgbClr val="7C88A6"/>
                </a:solidFill>
                <a:latin typeface="Calibri" pitchFamily="34" charset="0"/>
                <a:ea typeface="Calibri" pitchFamily="34" charset="-122"/>
                <a:cs typeface="Calibri" pitchFamily="34" charset="-120"/>
              </a:rPr>
              <a:t>LECTUREBANK RAG CHATBOT</a:t>
            </a:r>
            <a:endParaRPr lang="en-US" sz="950" dirty="0"/>
          </a:p>
        </p:txBody>
      </p:sp>
      <p:sp>
        <p:nvSpPr>
          <p:cNvPr id="3" name="Text 1"/>
          <p:cNvSpPr/>
          <p:nvPr/>
        </p:nvSpPr>
        <p:spPr>
          <a:xfrm>
            <a:off x="457200" y="512064"/>
            <a:ext cx="11247120" cy="621792"/>
          </a:xfrm>
          <a:prstGeom prst="rect">
            <a:avLst/>
          </a:prstGeom>
          <a:noFill/>
          <a:ln/>
        </p:spPr>
        <p:txBody>
          <a:bodyPr wrap="square" lIns="0" tIns="0" rIns="0" bIns="0" rtlCol="0" anchor="ctr"/>
          <a:lstStyle/>
          <a:p>
            <a:pPr indent="0" marL="0">
              <a:buNone/>
            </a:pPr>
            <a:r>
              <a:rPr lang="en-US" sz="3600" b="1" dirty="0">
                <a:solidFill>
                  <a:srgbClr val="1E2761"/>
                </a:solidFill>
                <a:latin typeface="Cambria" pitchFamily="34" charset="0"/>
                <a:ea typeface="Cambria" pitchFamily="34" charset="-122"/>
                <a:cs typeface="Cambria" pitchFamily="34" charset="-120"/>
              </a:rPr>
              <a:t>Data &amp; Ingestion</a:t>
            </a:r>
            <a:endParaRPr lang="en-US" sz="3600" dirty="0"/>
          </a:p>
        </p:txBody>
      </p:sp>
      <p:sp>
        <p:nvSpPr>
          <p:cNvPr id="4" name="Text 2"/>
          <p:cNvSpPr/>
          <p:nvPr/>
        </p:nvSpPr>
        <p:spPr>
          <a:xfrm>
            <a:off x="11475720" y="6510528"/>
            <a:ext cx="502920" cy="237744"/>
          </a:xfrm>
          <a:prstGeom prst="rect">
            <a:avLst/>
          </a:prstGeom>
          <a:noFill/>
          <a:ln/>
        </p:spPr>
        <p:txBody>
          <a:bodyPr wrap="square" lIns="0" tIns="0" rIns="0" bIns="0" rtlCol="0" anchor="ctr"/>
          <a:lstStyle/>
          <a:p>
            <a:pPr algn="r" indent="0" marL="0">
              <a:buNone/>
            </a:pPr>
            <a:r>
              <a:rPr lang="en-US" sz="900" dirty="0">
                <a:solidFill>
                  <a:srgbClr val="7C88A6"/>
                </a:solidFill>
                <a:latin typeface="Calibri" pitchFamily="34" charset="0"/>
                <a:ea typeface="Calibri" pitchFamily="34" charset="-122"/>
                <a:cs typeface="Calibri" pitchFamily="34" charset="-120"/>
              </a:rPr>
              <a:t>3</a:t>
            </a:r>
            <a:endParaRPr lang="en-US" sz="900" dirty="0"/>
          </a:p>
        </p:txBody>
      </p:sp>
      <p:sp>
        <p:nvSpPr>
          <p:cNvPr id="5" name="Shape 3"/>
          <p:cNvSpPr/>
          <p:nvPr/>
        </p:nvSpPr>
        <p:spPr>
          <a:xfrm>
            <a:off x="457200" y="1325880"/>
            <a:ext cx="2651760" cy="1627632"/>
          </a:xfrm>
          <a:prstGeom prst="roundRect">
            <a:avLst>
              <a:gd name="adj" fmla="val 3933"/>
            </a:avLst>
          </a:prstGeom>
          <a:solidFill>
            <a:srgbClr val="EEF3FB"/>
          </a:solidFill>
          <a:ln/>
        </p:spPr>
      </p:sp>
      <p:sp>
        <p:nvSpPr>
          <p:cNvPr id="6" name="Shape 4"/>
          <p:cNvSpPr/>
          <p:nvPr/>
        </p:nvSpPr>
        <p:spPr>
          <a:xfrm>
            <a:off x="640080" y="1490472"/>
            <a:ext cx="384048" cy="384048"/>
          </a:xfrm>
          <a:prstGeom prst="ellipse">
            <a:avLst/>
          </a:prstGeom>
          <a:solidFill>
            <a:srgbClr val="CADCFC"/>
          </a:solidFill>
          <a:ln/>
        </p:spPr>
      </p:sp>
      <p:pic>
        <p:nvPicPr>
          <p:cNvPr id="7" name="Image 0" descr="/home/claude/icons/filetext.png">    </p:cNvPr>
          <p:cNvPicPr>
            <a:picLocks noChangeAspect="1"/>
          </p:cNvPicPr>
          <p:nvPr/>
        </p:nvPicPr>
        <p:blipFill>
          <a:blip r:embed="rId1"/>
          <a:stretch>
            <a:fillRect/>
          </a:stretch>
        </p:blipFill>
        <p:spPr>
          <a:xfrm>
            <a:off x="739932" y="1590324"/>
            <a:ext cx="184343" cy="184343"/>
          </a:xfrm>
          <a:prstGeom prst="rect">
            <a:avLst/>
          </a:prstGeom>
        </p:spPr>
      </p:pic>
      <p:sp>
        <p:nvSpPr>
          <p:cNvPr id="8" name="Text 5"/>
          <p:cNvSpPr/>
          <p:nvPr/>
        </p:nvSpPr>
        <p:spPr>
          <a:xfrm>
            <a:off x="640080" y="1929384"/>
            <a:ext cx="2286000" cy="475488"/>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500</a:t>
            </a:r>
            <a:endParaRPr lang="en-US" sz="3000" dirty="0"/>
          </a:p>
        </p:txBody>
      </p:sp>
      <p:sp>
        <p:nvSpPr>
          <p:cNvPr id="9" name="Text 6"/>
          <p:cNvSpPr/>
          <p:nvPr/>
        </p:nvSpPr>
        <p:spPr>
          <a:xfrm>
            <a:off x="640080" y="2404872"/>
            <a:ext cx="2286000" cy="237744"/>
          </a:xfrm>
          <a:prstGeom prst="rect">
            <a:avLst/>
          </a:prstGeom>
          <a:noFill/>
          <a:ln/>
        </p:spPr>
        <p:txBody>
          <a:bodyPr wrap="square" lIns="0" tIns="0" rIns="0" bIns="0" rtlCol="0" anchor="ctr"/>
          <a:lstStyle/>
          <a:p>
            <a:pPr indent="0" marL="0">
              <a:buNone/>
            </a:pPr>
            <a:r>
              <a:rPr lang="en-US" sz="1150" b="1" dirty="0">
                <a:solidFill>
                  <a:srgbClr val="3A4560"/>
                </a:solidFill>
                <a:latin typeface="Calibri" pitchFamily="34" charset="0"/>
                <a:ea typeface="Calibri" pitchFamily="34" charset="-122"/>
                <a:cs typeface="Calibri" pitchFamily="34" charset="-120"/>
              </a:rPr>
              <a:t>TSV rows ingested</a:t>
            </a:r>
            <a:endParaRPr lang="en-US" sz="1150" dirty="0"/>
          </a:p>
        </p:txBody>
      </p:sp>
      <p:sp>
        <p:nvSpPr>
          <p:cNvPr id="10" name="Text 7"/>
          <p:cNvSpPr/>
          <p:nvPr/>
        </p:nvSpPr>
        <p:spPr>
          <a:xfrm>
            <a:off x="640080" y="2642616"/>
            <a:ext cx="2286000" cy="274320"/>
          </a:xfrm>
          <a:prstGeom prst="rect">
            <a:avLst/>
          </a:prstGeom>
          <a:noFill/>
          <a:ln/>
        </p:spPr>
        <p:txBody>
          <a:bodyPr wrap="square" lIns="0" tIns="0" rIns="0" bIns="0" rtlCol="0" anchor="ctr"/>
          <a:lstStyle/>
          <a:p>
            <a:pPr indent="0" marL="0">
              <a:buNone/>
            </a:pPr>
            <a:r>
              <a:rPr lang="en-US" sz="900" dirty="0">
                <a:solidFill>
                  <a:srgbClr val="7C88A6"/>
                </a:solidFill>
                <a:latin typeface="Calibri" pitchFamily="34" charset="0"/>
                <a:ea typeface="Calibri" pitchFamily="34" charset="-122"/>
                <a:cs typeface="Calibri" pitchFamily="34" charset="-120"/>
              </a:rPr>
              <a:t>of 7,499 in alldata.tsv (MAX_ROWS cap)</a:t>
            </a:r>
            <a:endParaRPr lang="en-US" sz="900" dirty="0"/>
          </a:p>
        </p:txBody>
      </p:sp>
      <p:sp>
        <p:nvSpPr>
          <p:cNvPr id="11" name="Shape 8"/>
          <p:cNvSpPr/>
          <p:nvPr/>
        </p:nvSpPr>
        <p:spPr>
          <a:xfrm>
            <a:off x="3328416" y="1325880"/>
            <a:ext cx="2651760" cy="1627632"/>
          </a:xfrm>
          <a:prstGeom prst="roundRect">
            <a:avLst>
              <a:gd name="adj" fmla="val 3933"/>
            </a:avLst>
          </a:prstGeom>
          <a:solidFill>
            <a:srgbClr val="EEF3FB"/>
          </a:solidFill>
          <a:ln/>
        </p:spPr>
      </p:sp>
      <p:sp>
        <p:nvSpPr>
          <p:cNvPr id="12" name="Shape 9"/>
          <p:cNvSpPr/>
          <p:nvPr/>
        </p:nvSpPr>
        <p:spPr>
          <a:xfrm>
            <a:off x="3511296" y="1490472"/>
            <a:ext cx="384048" cy="384048"/>
          </a:xfrm>
          <a:prstGeom prst="ellipse">
            <a:avLst/>
          </a:prstGeom>
          <a:solidFill>
            <a:srgbClr val="CADCFC"/>
          </a:solidFill>
          <a:ln/>
        </p:spPr>
      </p:sp>
      <p:pic>
        <p:nvPicPr>
          <p:cNvPr id="13" name="Image 1" descr="/home/claude/icons/folder.png">    </p:cNvPr>
          <p:cNvPicPr>
            <a:picLocks noChangeAspect="1"/>
          </p:cNvPicPr>
          <p:nvPr/>
        </p:nvPicPr>
        <p:blipFill>
          <a:blip r:embed="rId2"/>
          <a:stretch>
            <a:fillRect/>
          </a:stretch>
        </p:blipFill>
        <p:spPr>
          <a:xfrm>
            <a:off x="3611148" y="1590324"/>
            <a:ext cx="184343" cy="184343"/>
          </a:xfrm>
          <a:prstGeom prst="rect">
            <a:avLst/>
          </a:prstGeom>
        </p:spPr>
      </p:pic>
      <p:sp>
        <p:nvSpPr>
          <p:cNvPr id="14" name="Text 10"/>
          <p:cNvSpPr/>
          <p:nvPr/>
        </p:nvSpPr>
        <p:spPr>
          <a:xfrm>
            <a:off x="3511296" y="1929384"/>
            <a:ext cx="2286000" cy="475488"/>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16</a:t>
            </a:r>
            <a:endParaRPr lang="en-US" sz="3000" dirty="0"/>
          </a:p>
        </p:txBody>
      </p:sp>
      <p:sp>
        <p:nvSpPr>
          <p:cNvPr id="15" name="Text 11"/>
          <p:cNvSpPr/>
          <p:nvPr/>
        </p:nvSpPr>
        <p:spPr>
          <a:xfrm>
            <a:off x="3511296" y="2404872"/>
            <a:ext cx="2286000" cy="237744"/>
          </a:xfrm>
          <a:prstGeom prst="rect">
            <a:avLst/>
          </a:prstGeom>
          <a:noFill/>
          <a:ln/>
        </p:spPr>
        <p:txBody>
          <a:bodyPr wrap="square" lIns="0" tIns="0" rIns="0" bIns="0" rtlCol="0" anchor="ctr"/>
          <a:lstStyle/>
          <a:p>
            <a:pPr indent="0" marL="0">
              <a:buNone/>
            </a:pPr>
            <a:r>
              <a:rPr lang="en-US" sz="1150" b="1" dirty="0">
                <a:solidFill>
                  <a:srgbClr val="3A4560"/>
                </a:solidFill>
                <a:latin typeface="Calibri" pitchFamily="34" charset="0"/>
                <a:ea typeface="Calibri" pitchFamily="34" charset="-122"/>
                <a:cs typeface="Calibri" pitchFamily="34" charset="-120"/>
              </a:rPr>
              <a:t>PDF lecture decks</a:t>
            </a:r>
            <a:endParaRPr lang="en-US" sz="1150" dirty="0"/>
          </a:p>
        </p:txBody>
      </p:sp>
      <p:sp>
        <p:nvSpPr>
          <p:cNvPr id="16" name="Text 12"/>
          <p:cNvSpPr/>
          <p:nvPr/>
        </p:nvSpPr>
        <p:spPr>
          <a:xfrm>
            <a:off x="3511296" y="2642616"/>
            <a:ext cx="2286000" cy="274320"/>
          </a:xfrm>
          <a:prstGeom prst="rect">
            <a:avLst/>
          </a:prstGeom>
          <a:noFill/>
          <a:ln/>
        </p:spPr>
        <p:txBody>
          <a:bodyPr wrap="square" lIns="0" tIns="0" rIns="0" bIns="0" rtlCol="0" anchor="ctr"/>
          <a:lstStyle/>
          <a:p>
            <a:pPr indent="0" marL="0">
              <a:buNone/>
            </a:pPr>
            <a:r>
              <a:rPr lang="en-US" sz="900" dirty="0">
                <a:solidFill>
                  <a:srgbClr val="7C88A6"/>
                </a:solidFill>
                <a:latin typeface="Calibri" pitchFamily="34" charset="0"/>
                <a:ea typeface="Calibri" pitchFamily="34" charset="-122"/>
                <a:cs typeface="Calibri" pitchFamily="34" charset="-120"/>
              </a:rPr>
              <a:t>parsed with PyPDFLoader</a:t>
            </a:r>
            <a:endParaRPr lang="en-US" sz="900" dirty="0"/>
          </a:p>
        </p:txBody>
      </p:sp>
      <p:sp>
        <p:nvSpPr>
          <p:cNvPr id="17" name="Shape 13"/>
          <p:cNvSpPr/>
          <p:nvPr/>
        </p:nvSpPr>
        <p:spPr>
          <a:xfrm>
            <a:off x="6199632" y="1325880"/>
            <a:ext cx="2651760" cy="1627632"/>
          </a:xfrm>
          <a:prstGeom prst="roundRect">
            <a:avLst>
              <a:gd name="adj" fmla="val 3933"/>
            </a:avLst>
          </a:prstGeom>
          <a:solidFill>
            <a:srgbClr val="EEF3FB"/>
          </a:solidFill>
          <a:ln/>
        </p:spPr>
      </p:sp>
      <p:sp>
        <p:nvSpPr>
          <p:cNvPr id="18" name="Shape 14"/>
          <p:cNvSpPr/>
          <p:nvPr/>
        </p:nvSpPr>
        <p:spPr>
          <a:xfrm>
            <a:off x="6382512" y="1490472"/>
            <a:ext cx="384048" cy="384048"/>
          </a:xfrm>
          <a:prstGeom prst="ellipse">
            <a:avLst/>
          </a:prstGeom>
          <a:solidFill>
            <a:srgbClr val="CADCFC"/>
          </a:solidFill>
          <a:ln/>
        </p:spPr>
      </p:sp>
      <p:pic>
        <p:nvPicPr>
          <p:cNvPr id="19" name="Image 2" descr="/home/claude/icons/layers.png">    </p:cNvPr>
          <p:cNvPicPr>
            <a:picLocks noChangeAspect="1"/>
          </p:cNvPicPr>
          <p:nvPr/>
        </p:nvPicPr>
        <p:blipFill>
          <a:blip r:embed="rId3"/>
          <a:stretch>
            <a:fillRect/>
          </a:stretch>
        </p:blipFill>
        <p:spPr>
          <a:xfrm>
            <a:off x="6482364" y="1590324"/>
            <a:ext cx="184343" cy="184343"/>
          </a:xfrm>
          <a:prstGeom prst="rect">
            <a:avLst/>
          </a:prstGeom>
        </p:spPr>
      </p:pic>
      <p:sp>
        <p:nvSpPr>
          <p:cNvPr id="20" name="Text 15"/>
          <p:cNvSpPr/>
          <p:nvPr/>
        </p:nvSpPr>
        <p:spPr>
          <a:xfrm>
            <a:off x="6382512" y="1929384"/>
            <a:ext cx="2286000" cy="475488"/>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4,575</a:t>
            </a:r>
            <a:endParaRPr lang="en-US" sz="3000" dirty="0"/>
          </a:p>
        </p:txBody>
      </p:sp>
      <p:sp>
        <p:nvSpPr>
          <p:cNvPr id="21" name="Text 16"/>
          <p:cNvSpPr/>
          <p:nvPr/>
        </p:nvSpPr>
        <p:spPr>
          <a:xfrm>
            <a:off x="6382512" y="2404872"/>
            <a:ext cx="2286000" cy="237744"/>
          </a:xfrm>
          <a:prstGeom prst="rect">
            <a:avLst/>
          </a:prstGeom>
          <a:noFill/>
          <a:ln/>
        </p:spPr>
        <p:txBody>
          <a:bodyPr wrap="square" lIns="0" tIns="0" rIns="0" bIns="0" rtlCol="0" anchor="ctr"/>
          <a:lstStyle/>
          <a:p>
            <a:pPr indent="0" marL="0">
              <a:buNone/>
            </a:pPr>
            <a:r>
              <a:rPr lang="en-US" sz="1150" b="1" dirty="0">
                <a:solidFill>
                  <a:srgbClr val="3A4560"/>
                </a:solidFill>
                <a:latin typeface="Calibri" pitchFamily="34" charset="0"/>
                <a:ea typeface="Calibri" pitchFamily="34" charset="-122"/>
                <a:cs typeface="Calibri" pitchFamily="34" charset="-120"/>
              </a:rPr>
              <a:t>chunks indexed</a:t>
            </a:r>
            <a:endParaRPr lang="en-US" sz="1150" dirty="0"/>
          </a:p>
        </p:txBody>
      </p:sp>
      <p:sp>
        <p:nvSpPr>
          <p:cNvPr id="22" name="Text 17"/>
          <p:cNvSpPr/>
          <p:nvPr/>
        </p:nvSpPr>
        <p:spPr>
          <a:xfrm>
            <a:off x="6382512" y="2642616"/>
            <a:ext cx="2286000" cy="274320"/>
          </a:xfrm>
          <a:prstGeom prst="rect">
            <a:avLst/>
          </a:prstGeom>
          <a:noFill/>
          <a:ln/>
        </p:spPr>
        <p:txBody>
          <a:bodyPr wrap="square" lIns="0" tIns="0" rIns="0" bIns="0" rtlCol="0" anchor="ctr"/>
          <a:lstStyle/>
          <a:p>
            <a:pPr indent="0" marL="0">
              <a:buNone/>
            </a:pPr>
            <a:r>
              <a:rPr lang="en-US" sz="900" dirty="0">
                <a:solidFill>
                  <a:srgbClr val="7C88A6"/>
                </a:solidFill>
                <a:latin typeface="Calibri" pitchFamily="34" charset="0"/>
                <a:ea typeface="Calibri" pitchFamily="34" charset="-122"/>
                <a:cs typeface="Calibri" pitchFamily="34" charset="-120"/>
              </a:rPr>
              <a:t>500-char chunks, 50-char overlap</a:t>
            </a:r>
            <a:endParaRPr lang="en-US" sz="900" dirty="0"/>
          </a:p>
        </p:txBody>
      </p:sp>
      <p:sp>
        <p:nvSpPr>
          <p:cNvPr id="23" name="Shape 18"/>
          <p:cNvSpPr/>
          <p:nvPr/>
        </p:nvSpPr>
        <p:spPr>
          <a:xfrm>
            <a:off x="9070848" y="1325880"/>
            <a:ext cx="2651760" cy="1627632"/>
          </a:xfrm>
          <a:prstGeom prst="roundRect">
            <a:avLst>
              <a:gd name="adj" fmla="val 3933"/>
            </a:avLst>
          </a:prstGeom>
          <a:solidFill>
            <a:srgbClr val="EEF3FB"/>
          </a:solidFill>
          <a:ln/>
        </p:spPr>
      </p:sp>
      <p:sp>
        <p:nvSpPr>
          <p:cNvPr id="24" name="Shape 19"/>
          <p:cNvSpPr/>
          <p:nvPr/>
        </p:nvSpPr>
        <p:spPr>
          <a:xfrm>
            <a:off x="9253728" y="1490472"/>
            <a:ext cx="384048" cy="384048"/>
          </a:xfrm>
          <a:prstGeom prst="ellipse">
            <a:avLst/>
          </a:prstGeom>
          <a:solidFill>
            <a:srgbClr val="CADCFC"/>
          </a:solidFill>
          <a:ln/>
        </p:spPr>
      </p:sp>
      <p:pic>
        <p:nvPicPr>
          <p:cNvPr id="25" name="Image 3" descr="/home/claude/icons/cpu.png">    </p:cNvPr>
          <p:cNvPicPr>
            <a:picLocks noChangeAspect="1"/>
          </p:cNvPicPr>
          <p:nvPr/>
        </p:nvPicPr>
        <p:blipFill>
          <a:blip r:embed="rId4"/>
          <a:stretch>
            <a:fillRect/>
          </a:stretch>
        </p:blipFill>
        <p:spPr>
          <a:xfrm>
            <a:off x="9353580" y="1590324"/>
            <a:ext cx="184343" cy="184343"/>
          </a:xfrm>
          <a:prstGeom prst="rect">
            <a:avLst/>
          </a:prstGeom>
        </p:spPr>
      </p:pic>
      <p:sp>
        <p:nvSpPr>
          <p:cNvPr id="26" name="Text 20"/>
          <p:cNvSpPr/>
          <p:nvPr/>
        </p:nvSpPr>
        <p:spPr>
          <a:xfrm>
            <a:off x="9253728" y="1929384"/>
            <a:ext cx="2286000" cy="475488"/>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384-d</a:t>
            </a:r>
            <a:endParaRPr lang="en-US" sz="3000" dirty="0"/>
          </a:p>
        </p:txBody>
      </p:sp>
      <p:sp>
        <p:nvSpPr>
          <p:cNvPr id="27" name="Text 21"/>
          <p:cNvSpPr/>
          <p:nvPr/>
        </p:nvSpPr>
        <p:spPr>
          <a:xfrm>
            <a:off x="9253728" y="2404872"/>
            <a:ext cx="2286000" cy="237744"/>
          </a:xfrm>
          <a:prstGeom prst="rect">
            <a:avLst/>
          </a:prstGeom>
          <a:noFill/>
          <a:ln/>
        </p:spPr>
        <p:txBody>
          <a:bodyPr wrap="square" lIns="0" tIns="0" rIns="0" bIns="0" rtlCol="0" anchor="ctr"/>
          <a:lstStyle/>
          <a:p>
            <a:pPr indent="0" marL="0">
              <a:buNone/>
            </a:pPr>
            <a:r>
              <a:rPr lang="en-US" sz="1150" b="1" dirty="0">
                <a:solidFill>
                  <a:srgbClr val="3A4560"/>
                </a:solidFill>
                <a:latin typeface="Calibri" pitchFamily="34" charset="0"/>
                <a:ea typeface="Calibri" pitchFamily="34" charset="-122"/>
                <a:cs typeface="Calibri" pitchFamily="34" charset="-120"/>
              </a:rPr>
              <a:t>local embeddings</a:t>
            </a:r>
            <a:endParaRPr lang="en-US" sz="1150" dirty="0"/>
          </a:p>
        </p:txBody>
      </p:sp>
      <p:sp>
        <p:nvSpPr>
          <p:cNvPr id="28" name="Text 22"/>
          <p:cNvSpPr/>
          <p:nvPr/>
        </p:nvSpPr>
        <p:spPr>
          <a:xfrm>
            <a:off x="9253728" y="2642616"/>
            <a:ext cx="2286000" cy="274320"/>
          </a:xfrm>
          <a:prstGeom prst="rect">
            <a:avLst/>
          </a:prstGeom>
          <a:noFill/>
          <a:ln/>
        </p:spPr>
        <p:txBody>
          <a:bodyPr wrap="square" lIns="0" tIns="0" rIns="0" bIns="0" rtlCol="0" anchor="ctr"/>
          <a:lstStyle/>
          <a:p>
            <a:pPr indent="0" marL="0">
              <a:buNone/>
            </a:pPr>
            <a:r>
              <a:rPr lang="en-US" sz="900" dirty="0">
                <a:solidFill>
                  <a:srgbClr val="7C88A6"/>
                </a:solidFill>
                <a:latin typeface="Calibri" pitchFamily="34" charset="0"/>
                <a:ea typeface="Calibri" pitchFamily="34" charset="-122"/>
                <a:cs typeface="Calibri" pitchFamily="34" charset="-120"/>
              </a:rPr>
              <a:t>all-MiniLM-L6-v2, CPU-only</a:t>
            </a:r>
            <a:endParaRPr lang="en-US" sz="900" dirty="0"/>
          </a:p>
        </p:txBody>
      </p:sp>
      <p:sp>
        <p:nvSpPr>
          <p:cNvPr id="29" name="Shape 23"/>
          <p:cNvSpPr/>
          <p:nvPr/>
        </p:nvSpPr>
        <p:spPr>
          <a:xfrm>
            <a:off x="457200" y="3246120"/>
            <a:ext cx="11274552" cy="2651760"/>
          </a:xfrm>
          <a:prstGeom prst="roundRect">
            <a:avLst>
              <a:gd name="adj" fmla="val 2414"/>
            </a:avLst>
          </a:prstGeom>
          <a:solidFill>
            <a:srgbClr val="EEF3FB"/>
          </a:solidFill>
          <a:ln/>
        </p:spPr>
      </p:sp>
      <p:sp>
        <p:nvSpPr>
          <p:cNvPr id="30" name="Text 24"/>
          <p:cNvSpPr/>
          <p:nvPr/>
        </p:nvSpPr>
        <p:spPr>
          <a:xfrm>
            <a:off x="777240" y="3419856"/>
            <a:ext cx="10607040" cy="292608"/>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How the index is built  (free_rag_ingestion.py)</a:t>
            </a:r>
            <a:endParaRPr lang="en-US" sz="1400" dirty="0"/>
          </a:p>
        </p:txBody>
      </p:sp>
      <p:sp>
        <p:nvSpPr>
          <p:cNvPr id="31" name="Text 25"/>
          <p:cNvSpPr/>
          <p:nvPr/>
        </p:nvSpPr>
        <p:spPr>
          <a:xfrm>
            <a:off x="777240" y="3822192"/>
            <a:ext cx="10607040" cy="457200"/>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Synthetic documents — </a:t>
            </a:r>
            <a:pPr indent="0" marL="0">
              <a:buNone/>
            </a:pPr>
            <a:r>
              <a:rPr lang="en-US" sz="1200" dirty="0">
                <a:solidFill>
                  <a:srgbClr val="3A4560"/>
                </a:solidFill>
                <a:latin typeface="Calibri" pitchFamily="34" charset="0"/>
                <a:ea typeface="Calibri" pitchFamily="34" charset="-122"/>
                <a:cs typeface="Calibri" pitchFamily="34" charset="-120"/>
              </a:rPr>
              <a:t>every TSV row becomes retrievable text: "Lecture / Instructor / University / Year / Topic / Slides URL".</a:t>
            </a:r>
            <a:endParaRPr lang="en-US" sz="1200" dirty="0"/>
          </a:p>
        </p:txBody>
      </p:sp>
      <p:sp>
        <p:nvSpPr>
          <p:cNvPr id="32" name="Text 26"/>
          <p:cNvSpPr/>
          <p:nvPr/>
        </p:nvSpPr>
        <p:spPr>
          <a:xfrm>
            <a:off x="777240" y="4325112"/>
            <a:ext cx="10607040" cy="457200"/>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Chunking — </a:t>
            </a:r>
            <a:pPr indent="0" marL="0">
              <a:buNone/>
            </a:pPr>
            <a:r>
              <a:rPr lang="en-US" sz="1200" dirty="0">
                <a:solidFill>
                  <a:srgbClr val="3A4560"/>
                </a:solidFill>
                <a:latin typeface="Calibri" pitchFamily="34" charset="0"/>
                <a:ea typeface="Calibri" pitchFamily="34" charset="-122"/>
                <a:cs typeface="Calibri" pitchFamily="34" charset="-120"/>
              </a:rPr>
              <a:t>RecursiveCharacterTextSplitter with chunk_size = 500 and chunk_overlap = 50.</a:t>
            </a:r>
            <a:endParaRPr lang="en-US" sz="1200" dirty="0"/>
          </a:p>
        </p:txBody>
      </p:sp>
      <p:sp>
        <p:nvSpPr>
          <p:cNvPr id="33" name="Text 27"/>
          <p:cNvSpPr/>
          <p:nvPr/>
        </p:nvSpPr>
        <p:spPr>
          <a:xfrm>
            <a:off x="777240" y="4828032"/>
            <a:ext cx="10607040" cy="457200"/>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Embeddings — </a:t>
            </a:r>
            <a:pPr indent="0" marL="0">
              <a:buNone/>
            </a:pPr>
            <a:r>
              <a:rPr lang="en-US" sz="1200" dirty="0">
                <a:solidFill>
                  <a:srgbClr val="3A4560"/>
                </a:solidFill>
                <a:latin typeface="Calibri" pitchFamily="34" charset="0"/>
                <a:ea typeface="Calibri" pitchFamily="34" charset="-122"/>
                <a:cs typeface="Calibri" pitchFamily="34" charset="-120"/>
              </a:rPr>
              <a:t>sentence-transformers/all-MiniLM-L6-v2: a local HuggingFace model, no API key, ~90 MB.</a:t>
            </a:r>
            <a:endParaRPr lang="en-US" sz="1200" dirty="0"/>
          </a:p>
        </p:txBody>
      </p:sp>
      <p:sp>
        <p:nvSpPr>
          <p:cNvPr id="34" name="Text 28"/>
          <p:cNvSpPr/>
          <p:nvPr/>
        </p:nvSpPr>
        <p:spPr>
          <a:xfrm>
            <a:off x="777240" y="5330952"/>
            <a:ext cx="10607040" cy="457200"/>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Vector store — </a:t>
            </a:r>
            <a:pPr indent="0" marL="0">
              <a:buNone/>
            </a:pPr>
            <a:r>
              <a:rPr lang="en-US" sz="1200" dirty="0">
                <a:solidFill>
                  <a:srgbClr val="3A4560"/>
                </a:solidFill>
                <a:latin typeface="Calibri" pitchFamily="34" charset="0"/>
                <a:ea typeface="Calibri" pitchFamily="34" charset="-122"/>
                <a:cs typeface="Calibri" pitchFamily="34" charset="-120"/>
              </a:rPr>
              <a:t>ChromaDB persisted at db/chroma_db_free with hnsw:space = cosine.</a:t>
            </a:r>
            <a:endParaRPr lang="en-US" sz="1200" dirty="0"/>
          </a:p>
        </p:txBody>
      </p:sp>
      <p:sp>
        <p:nvSpPr>
          <p:cNvPr id="35" name="Text 29"/>
          <p:cNvSpPr/>
          <p:nvPr/>
        </p:nvSpPr>
        <p:spPr>
          <a:xfrm>
            <a:off x="457200" y="6080760"/>
            <a:ext cx="11274552" cy="256032"/>
          </a:xfrm>
          <a:prstGeom prst="rect">
            <a:avLst/>
          </a:prstGeom>
          <a:noFill/>
          <a:ln/>
        </p:spPr>
        <p:txBody>
          <a:bodyPr wrap="square" lIns="0" tIns="0" rIns="0" bIns="0" rtlCol="0" anchor="ctr"/>
          <a:lstStyle/>
          <a:p>
            <a:pPr indent="0" marL="0">
              <a:buNone/>
            </a:pPr>
            <a:r>
              <a:rPr lang="en-US" sz="1000" i="1" dirty="0">
                <a:solidFill>
                  <a:srgbClr val="7C88A6"/>
                </a:solidFill>
                <a:latin typeface="Calibri" pitchFamily="34" charset="0"/>
                <a:ea typeface="Calibri" pitchFamily="34" charset="-122"/>
                <a:cs typeface="Calibri" pitchFamily="34" charset="-120"/>
              </a:rPr>
              <a:t>Corpus: LectureBank (Yale LILY) — NLP lecture metadata plus 16 raw lecture slide decks.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5486400" cy="219456"/>
          </a:xfrm>
          <a:prstGeom prst="rect">
            <a:avLst/>
          </a:prstGeom>
          <a:noFill/>
          <a:ln/>
        </p:spPr>
        <p:txBody>
          <a:bodyPr wrap="square" lIns="0" tIns="0" rIns="0" bIns="0" rtlCol="0" anchor="ctr"/>
          <a:lstStyle/>
          <a:p>
            <a:pPr indent="0" marL="0">
              <a:buNone/>
            </a:pPr>
            <a:r>
              <a:rPr lang="en-US" sz="950" b="1" spc="300" kern="0" dirty="0">
                <a:solidFill>
                  <a:srgbClr val="7C88A6"/>
                </a:solidFill>
                <a:latin typeface="Calibri" pitchFamily="34" charset="0"/>
                <a:ea typeface="Calibri" pitchFamily="34" charset="-122"/>
                <a:cs typeface="Calibri" pitchFamily="34" charset="-120"/>
              </a:rPr>
              <a:t>LECTUREBANK RAG CHATBOT</a:t>
            </a:r>
            <a:endParaRPr lang="en-US" sz="950" dirty="0"/>
          </a:p>
        </p:txBody>
      </p:sp>
      <p:sp>
        <p:nvSpPr>
          <p:cNvPr id="3" name="Text 1"/>
          <p:cNvSpPr/>
          <p:nvPr/>
        </p:nvSpPr>
        <p:spPr>
          <a:xfrm>
            <a:off x="457200" y="512064"/>
            <a:ext cx="11247120" cy="621792"/>
          </a:xfrm>
          <a:prstGeom prst="rect">
            <a:avLst/>
          </a:prstGeom>
          <a:noFill/>
          <a:ln/>
        </p:spPr>
        <p:txBody>
          <a:bodyPr wrap="square" lIns="0" tIns="0" rIns="0" bIns="0" rtlCol="0" anchor="ctr"/>
          <a:lstStyle/>
          <a:p>
            <a:pPr indent="0" marL="0">
              <a:buNone/>
            </a:pPr>
            <a:r>
              <a:rPr lang="en-US" sz="3600" b="1" dirty="0">
                <a:solidFill>
                  <a:srgbClr val="1E2761"/>
                </a:solidFill>
                <a:latin typeface="Cambria" pitchFamily="34" charset="0"/>
                <a:ea typeface="Cambria" pitchFamily="34" charset="-122"/>
                <a:cs typeface="Cambria" pitchFamily="34" charset="-120"/>
              </a:rPr>
              <a:t>Retrieval, Scope Control &amp; Dual-Backend Generation</a:t>
            </a:r>
            <a:endParaRPr lang="en-US" sz="3600" dirty="0"/>
          </a:p>
        </p:txBody>
      </p:sp>
      <p:sp>
        <p:nvSpPr>
          <p:cNvPr id="4" name="Text 2"/>
          <p:cNvSpPr/>
          <p:nvPr/>
        </p:nvSpPr>
        <p:spPr>
          <a:xfrm>
            <a:off x="11475720" y="6510528"/>
            <a:ext cx="502920" cy="237744"/>
          </a:xfrm>
          <a:prstGeom prst="rect">
            <a:avLst/>
          </a:prstGeom>
          <a:noFill/>
          <a:ln/>
        </p:spPr>
        <p:txBody>
          <a:bodyPr wrap="square" lIns="0" tIns="0" rIns="0" bIns="0" rtlCol="0" anchor="ctr"/>
          <a:lstStyle/>
          <a:p>
            <a:pPr algn="r" indent="0" marL="0">
              <a:buNone/>
            </a:pPr>
            <a:r>
              <a:rPr lang="en-US" sz="900" dirty="0">
                <a:solidFill>
                  <a:srgbClr val="7C88A6"/>
                </a:solidFill>
                <a:latin typeface="Calibri" pitchFamily="34" charset="0"/>
                <a:ea typeface="Calibri" pitchFamily="34" charset="-122"/>
                <a:cs typeface="Calibri" pitchFamily="34" charset="-120"/>
              </a:rPr>
              <a:t>4</a:t>
            </a:r>
            <a:endParaRPr lang="en-US" sz="900" dirty="0"/>
          </a:p>
        </p:txBody>
      </p:sp>
      <p:sp>
        <p:nvSpPr>
          <p:cNvPr id="5" name="Shape 3"/>
          <p:cNvSpPr/>
          <p:nvPr/>
        </p:nvSpPr>
        <p:spPr>
          <a:xfrm>
            <a:off x="457200" y="1280160"/>
            <a:ext cx="5486400" cy="3977640"/>
          </a:xfrm>
          <a:prstGeom prst="roundRect">
            <a:avLst>
              <a:gd name="adj" fmla="val 1609"/>
            </a:avLst>
          </a:prstGeom>
          <a:solidFill>
            <a:srgbClr val="EEF3FB"/>
          </a:solidFill>
          <a:ln/>
        </p:spPr>
      </p:sp>
      <p:sp>
        <p:nvSpPr>
          <p:cNvPr id="6" name="Shape 4"/>
          <p:cNvSpPr/>
          <p:nvPr/>
        </p:nvSpPr>
        <p:spPr>
          <a:xfrm>
            <a:off x="713232" y="1481328"/>
            <a:ext cx="384048" cy="384048"/>
          </a:xfrm>
          <a:prstGeom prst="ellipse">
            <a:avLst/>
          </a:prstGeom>
          <a:solidFill>
            <a:srgbClr val="CADCFC"/>
          </a:solidFill>
          <a:ln/>
        </p:spPr>
      </p:sp>
      <p:pic>
        <p:nvPicPr>
          <p:cNvPr id="7" name="Image 0" descr="/home/claude/icons/search.png">    </p:cNvPr>
          <p:cNvPicPr>
            <a:picLocks noChangeAspect="1"/>
          </p:cNvPicPr>
          <p:nvPr/>
        </p:nvPicPr>
        <p:blipFill>
          <a:blip r:embed="rId1"/>
          <a:stretch>
            <a:fillRect/>
          </a:stretch>
        </p:blipFill>
        <p:spPr>
          <a:xfrm>
            <a:off x="813084" y="1581180"/>
            <a:ext cx="184343" cy="184343"/>
          </a:xfrm>
          <a:prstGeom prst="rect">
            <a:avLst/>
          </a:prstGeom>
        </p:spPr>
      </p:pic>
      <p:sp>
        <p:nvSpPr>
          <p:cNvPr id="8" name="Text 5"/>
          <p:cNvSpPr/>
          <p:nvPr/>
        </p:nvSpPr>
        <p:spPr>
          <a:xfrm>
            <a:off x="1225296" y="1517904"/>
            <a:ext cx="4572000" cy="310896"/>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Retrieval &amp; scope control  (app.py)</a:t>
            </a:r>
            <a:endParaRPr lang="en-US" sz="1500" dirty="0"/>
          </a:p>
        </p:txBody>
      </p:sp>
      <p:sp>
        <p:nvSpPr>
          <p:cNvPr id="9" name="Text 6"/>
          <p:cNvSpPr/>
          <p:nvPr/>
        </p:nvSpPr>
        <p:spPr>
          <a:xfrm>
            <a:off x="749808" y="2029968"/>
            <a:ext cx="4937760" cy="868680"/>
          </a:xfrm>
          <a:prstGeom prst="rect">
            <a:avLst/>
          </a:prstGeom>
          <a:noFill/>
          <a:ln/>
        </p:spPr>
        <p:txBody>
          <a:bodyPr wrap="square" lIns="0" tIns="0" rIns="0" bIns="0" rtlCol="0" anchor="ctr"/>
          <a:lstStyle/>
          <a:p>
            <a:pPr indent="0" marL="0">
              <a:lnSpc>
                <a:spcPct val="108000"/>
              </a:lnSpc>
              <a:buNone/>
            </a:pPr>
            <a:r>
              <a:rPr lang="en-US" sz="1150" b="1" dirty="0">
                <a:solidFill>
                  <a:srgbClr val="1E2761"/>
                </a:solidFill>
                <a:latin typeface="Calibri" pitchFamily="34" charset="0"/>
                <a:ea typeface="Calibri" pitchFamily="34" charset="-122"/>
                <a:cs typeface="Calibri" pitchFamily="34" charset="-120"/>
              </a:rPr>
              <a:t>Top-k retrieval — </a:t>
            </a:r>
            <a:pPr indent="0" marL="0">
              <a:lnSpc>
                <a:spcPct val="108000"/>
              </a:lnSpc>
              <a:buNone/>
            </a:pPr>
            <a:r>
              <a:rPr lang="en-US" sz="1150" dirty="0">
                <a:solidFill>
                  <a:srgbClr val="3A4560"/>
                </a:solidFill>
                <a:latin typeface="Calibri" pitchFamily="34" charset="0"/>
                <a:ea typeface="Calibri" pitchFamily="34" charset="-122"/>
                <a:cs typeface="Calibri" pitchFamily="34" charset="-120"/>
              </a:rPr>
              <a:t>5 chunks per query (TOP_K), cosine similarity over ChromaDB.</a:t>
            </a:r>
            <a:endParaRPr lang="en-US" sz="1150" dirty="0"/>
          </a:p>
        </p:txBody>
      </p:sp>
      <p:sp>
        <p:nvSpPr>
          <p:cNvPr id="10" name="Text 7"/>
          <p:cNvSpPr/>
          <p:nvPr/>
        </p:nvSpPr>
        <p:spPr>
          <a:xfrm>
            <a:off x="749808" y="2688336"/>
            <a:ext cx="4937760" cy="868680"/>
          </a:xfrm>
          <a:prstGeom prst="rect">
            <a:avLst/>
          </a:prstGeom>
          <a:noFill/>
          <a:ln/>
        </p:spPr>
        <p:txBody>
          <a:bodyPr wrap="square" lIns="0" tIns="0" rIns="0" bIns="0" rtlCol="0" anchor="ctr"/>
          <a:lstStyle/>
          <a:p>
            <a:pPr indent="0" marL="0">
              <a:lnSpc>
                <a:spcPct val="108000"/>
              </a:lnSpc>
              <a:buNone/>
            </a:pPr>
            <a:r>
              <a:rPr lang="en-US" sz="1150" b="1" dirty="0">
                <a:solidFill>
                  <a:srgbClr val="1E2761"/>
                </a:solidFill>
                <a:latin typeface="Calibri" pitchFamily="34" charset="0"/>
                <a:ea typeface="Calibri" pitchFamily="34" charset="-122"/>
                <a:cs typeface="Calibri" pitchFamily="34" charset="-120"/>
              </a:rPr>
              <a:t>Conversational rewriting — </a:t>
            </a:r>
            <a:pPr indent="0" marL="0">
              <a:lnSpc>
                <a:spcPct val="108000"/>
              </a:lnSpc>
              <a:buNone/>
            </a:pPr>
            <a:r>
              <a:rPr lang="en-US" sz="1150" dirty="0">
                <a:solidFill>
                  <a:srgbClr val="3A4560"/>
                </a:solidFill>
                <a:latin typeface="Calibri" pitchFamily="34" charset="0"/>
                <a:ea typeface="Calibri" pitchFamily="34" charset="-122"/>
                <a:cs typeface="Calibri" pitchFamily="34" charset="-120"/>
              </a:rPr>
              <a:t>the last 3 user turns are prepended to the question before retrieval, so follow-ups stay unambiguous.</a:t>
            </a:r>
            <a:endParaRPr lang="en-US" sz="1150" dirty="0"/>
          </a:p>
        </p:txBody>
      </p:sp>
      <p:sp>
        <p:nvSpPr>
          <p:cNvPr id="11" name="Text 8"/>
          <p:cNvSpPr/>
          <p:nvPr/>
        </p:nvSpPr>
        <p:spPr>
          <a:xfrm>
            <a:off x="749808" y="3493008"/>
            <a:ext cx="4937760" cy="868680"/>
          </a:xfrm>
          <a:prstGeom prst="rect">
            <a:avLst/>
          </a:prstGeom>
          <a:noFill/>
          <a:ln/>
        </p:spPr>
        <p:txBody>
          <a:bodyPr wrap="square" lIns="0" tIns="0" rIns="0" bIns="0" rtlCol="0" anchor="ctr"/>
          <a:lstStyle/>
          <a:p>
            <a:pPr indent="0" marL="0">
              <a:lnSpc>
                <a:spcPct val="108000"/>
              </a:lnSpc>
              <a:buNone/>
            </a:pPr>
            <a:r>
              <a:rPr lang="en-US" sz="1150" b="1" dirty="0">
                <a:solidFill>
                  <a:srgbClr val="1E2761"/>
                </a:solidFill>
                <a:latin typeface="Calibri" pitchFamily="34" charset="0"/>
                <a:ea typeface="Calibri" pitchFamily="34" charset="-122"/>
                <a:cs typeface="Calibri" pitchFamily="34" charset="-120"/>
              </a:rPr>
              <a:t>Scope gate — </a:t>
            </a:r>
            <a:pPr indent="0" marL="0">
              <a:lnSpc>
                <a:spcPct val="108000"/>
              </a:lnSpc>
              <a:buNone/>
            </a:pPr>
            <a:r>
              <a:rPr lang="en-US" sz="1150" dirty="0">
                <a:solidFill>
                  <a:srgbClr val="3A4560"/>
                </a:solidFill>
                <a:latin typeface="Calibri" pitchFamily="34" charset="0"/>
                <a:ea typeface="Calibri" pitchFamily="34" charset="-122"/>
                <a:cs typeface="Calibri" pitchFamily="34" charset="-120"/>
              </a:rPr>
              <a:t>if the top relevance score is below 0.3 (MIN_SCOPE_RELEVANCE), a canned out-of-scope reply is returned instead of letting the LLM improvise.</a:t>
            </a:r>
            <a:endParaRPr lang="en-US" sz="1150" dirty="0"/>
          </a:p>
        </p:txBody>
      </p:sp>
      <p:sp>
        <p:nvSpPr>
          <p:cNvPr id="12" name="Text 9"/>
          <p:cNvSpPr/>
          <p:nvPr/>
        </p:nvSpPr>
        <p:spPr>
          <a:xfrm>
            <a:off x="749808" y="4480560"/>
            <a:ext cx="4937760" cy="868680"/>
          </a:xfrm>
          <a:prstGeom prst="rect">
            <a:avLst/>
          </a:prstGeom>
          <a:noFill/>
          <a:ln/>
        </p:spPr>
        <p:txBody>
          <a:bodyPr wrap="square" lIns="0" tIns="0" rIns="0" bIns="0" rtlCol="0" anchor="ctr"/>
          <a:lstStyle/>
          <a:p>
            <a:pPr indent="0" marL="0">
              <a:lnSpc>
                <a:spcPct val="108000"/>
              </a:lnSpc>
              <a:buNone/>
            </a:pPr>
            <a:r>
              <a:rPr lang="en-US" sz="1150" b="1" dirty="0">
                <a:solidFill>
                  <a:srgbClr val="1E2761"/>
                </a:solidFill>
                <a:latin typeface="Calibri" pitchFamily="34" charset="0"/>
                <a:ea typeface="Calibri" pitchFamily="34" charset="-122"/>
                <a:cs typeface="Calibri" pitchFamily="34" charset="-120"/>
              </a:rPr>
              <a:t>Conversation memory — </a:t>
            </a:r>
            <a:pPr indent="0" marL="0">
              <a:lnSpc>
                <a:spcPct val="108000"/>
              </a:lnSpc>
              <a:buNone/>
            </a:pPr>
            <a:r>
              <a:rPr lang="en-US" sz="1150" dirty="0">
                <a:solidFill>
                  <a:srgbClr val="3A4560"/>
                </a:solidFill>
                <a:latin typeface="Calibri" pitchFamily="34" charset="0"/>
                <a:ea typeface="Calibri" pitchFamily="34" charset="-122"/>
                <a:cs typeface="Calibri" pitchFamily="34" charset="-120"/>
              </a:rPr>
              <a:t>in-memory deque per conversation_id, capped at 10 turns (MAX_TURNS).</a:t>
            </a:r>
            <a:endParaRPr lang="en-US" sz="1150" dirty="0"/>
          </a:p>
        </p:txBody>
      </p:sp>
      <p:sp>
        <p:nvSpPr>
          <p:cNvPr id="13" name="Shape 10"/>
          <p:cNvSpPr/>
          <p:nvPr/>
        </p:nvSpPr>
        <p:spPr>
          <a:xfrm>
            <a:off x="6263640" y="1280160"/>
            <a:ext cx="5468112" cy="1371600"/>
          </a:xfrm>
          <a:prstGeom prst="roundRect">
            <a:avLst>
              <a:gd name="adj" fmla="val 4667"/>
            </a:avLst>
          </a:prstGeom>
          <a:solidFill>
            <a:srgbClr val="FFFFFF"/>
          </a:solidFill>
          <a:ln w="12700">
            <a:solidFill>
              <a:srgbClr val="D9E2F4"/>
            </a:solidFill>
            <a:prstDash val="solid"/>
          </a:ln>
        </p:spPr>
      </p:sp>
      <p:sp>
        <p:nvSpPr>
          <p:cNvPr id="14" name="Shape 11"/>
          <p:cNvSpPr/>
          <p:nvPr/>
        </p:nvSpPr>
        <p:spPr>
          <a:xfrm>
            <a:off x="6464808" y="1481328"/>
            <a:ext cx="384048" cy="384048"/>
          </a:xfrm>
          <a:prstGeom prst="ellipse">
            <a:avLst/>
          </a:prstGeom>
          <a:solidFill>
            <a:srgbClr val="CADCFC"/>
          </a:solidFill>
          <a:ln/>
        </p:spPr>
      </p:sp>
      <p:pic>
        <p:nvPicPr>
          <p:cNvPr id="15" name="Image 1" descr="/home/claude/icons/zap.png">    </p:cNvPr>
          <p:cNvPicPr>
            <a:picLocks noChangeAspect="1"/>
          </p:cNvPicPr>
          <p:nvPr/>
        </p:nvPicPr>
        <p:blipFill>
          <a:blip r:embed="rId2"/>
          <a:stretch>
            <a:fillRect/>
          </a:stretch>
        </p:blipFill>
        <p:spPr>
          <a:xfrm>
            <a:off x="6564660" y="1581180"/>
            <a:ext cx="184343" cy="184343"/>
          </a:xfrm>
          <a:prstGeom prst="rect">
            <a:avLst/>
          </a:prstGeom>
        </p:spPr>
      </p:pic>
      <p:sp>
        <p:nvSpPr>
          <p:cNvPr id="16" name="Text 12"/>
          <p:cNvSpPr/>
          <p:nvPr/>
        </p:nvSpPr>
        <p:spPr>
          <a:xfrm>
            <a:off x="6995160" y="1426464"/>
            <a:ext cx="4553712" cy="1143000"/>
          </a:xfrm>
          <a:prstGeom prst="rect">
            <a:avLst/>
          </a:prstGeom>
          <a:noFill/>
          <a:ln/>
        </p:spPr>
        <p:txBody>
          <a:bodyPr wrap="square" lIns="0" tIns="0" rIns="0" bIns="0" rtlCol="0" anchor="t"/>
          <a:lstStyle/>
          <a:p>
            <a:pPr indent="0" marL="0">
              <a:lnSpc>
                <a:spcPct val="115000"/>
              </a:lnSpc>
              <a:buNone/>
            </a:pPr>
            <a:r>
              <a:rPr lang="en-US" sz="1400" b="1" dirty="0">
                <a:solidFill>
                  <a:srgbClr val="1E2761"/>
                </a:solidFill>
                <a:latin typeface="Calibri" pitchFamily="34" charset="0"/>
                <a:ea typeface="Calibri" pitchFamily="34" charset="-122"/>
                <a:cs typeface="Calibri" pitchFamily="34" charset="-120"/>
              </a:rPr>
              <a:t>Groq — cloud</a:t>
            </a:r>
            <a:endParaRPr lang="en-US" sz="1400" dirty="0"/>
          </a:p>
          <a:p>
            <a:pPr indent="0" marL="0">
              <a:lnSpc>
                <a:spcPct val="115000"/>
              </a:lnSpc>
              <a:buNone/>
            </a:pPr>
            <a:r>
              <a:rPr lang="en-US" sz="1050" dirty="0">
                <a:solidFill>
                  <a:srgbClr val="1E2761"/>
                </a:solidFill>
                <a:latin typeface="Courier New" pitchFamily="34" charset="0"/>
                <a:ea typeface="Courier New" pitchFamily="34" charset="-122"/>
                <a:cs typeface="Courier New" pitchFamily="34" charset="-120"/>
              </a:rPr>
              <a:t>llama-3.3-70b-versatile</a:t>
            </a:r>
            <a:endParaRPr lang="en-US" sz="1400" dirty="0"/>
          </a:p>
          <a:p>
            <a:pPr indent="0" marL="0">
              <a:lnSpc>
                <a:spcPct val="115000"/>
              </a:lnSpc>
              <a:buNone/>
            </a:pPr>
            <a:r>
              <a:rPr lang="en-US" sz="1050" dirty="0">
                <a:solidFill>
                  <a:srgbClr val="3A4560"/>
                </a:solidFill>
                <a:latin typeface="Calibri" pitchFamily="34" charset="0"/>
                <a:ea typeface="Calibri" pitchFamily="34" charset="-122"/>
                <a:cs typeface="Calibri" pitchFamily="34" charset="-120"/>
              </a:rPr>
              <a:t>temperature 0.1  ·  max_tokens 512  ·  free tier</a:t>
            </a:r>
            <a:endParaRPr lang="en-US" sz="1400" dirty="0"/>
          </a:p>
        </p:txBody>
      </p:sp>
      <p:sp>
        <p:nvSpPr>
          <p:cNvPr id="17" name="Shape 13"/>
          <p:cNvSpPr/>
          <p:nvPr/>
        </p:nvSpPr>
        <p:spPr>
          <a:xfrm>
            <a:off x="6263640" y="2788920"/>
            <a:ext cx="5468112" cy="1371600"/>
          </a:xfrm>
          <a:prstGeom prst="roundRect">
            <a:avLst>
              <a:gd name="adj" fmla="val 4667"/>
            </a:avLst>
          </a:prstGeom>
          <a:solidFill>
            <a:srgbClr val="FFFFFF"/>
          </a:solidFill>
          <a:ln w="12700">
            <a:solidFill>
              <a:srgbClr val="D9E2F4"/>
            </a:solidFill>
            <a:prstDash val="solid"/>
          </a:ln>
        </p:spPr>
      </p:sp>
      <p:sp>
        <p:nvSpPr>
          <p:cNvPr id="18" name="Shape 14"/>
          <p:cNvSpPr/>
          <p:nvPr/>
        </p:nvSpPr>
        <p:spPr>
          <a:xfrm>
            <a:off x="6464808" y="2990088"/>
            <a:ext cx="384048" cy="384048"/>
          </a:xfrm>
          <a:prstGeom prst="ellipse">
            <a:avLst/>
          </a:prstGeom>
          <a:solidFill>
            <a:srgbClr val="CADCFC"/>
          </a:solidFill>
          <a:ln/>
        </p:spPr>
      </p:sp>
      <p:pic>
        <p:nvPicPr>
          <p:cNvPr id="19" name="Image 2" descr="/home/claude/icons/server.png">    </p:cNvPr>
          <p:cNvPicPr>
            <a:picLocks noChangeAspect="1"/>
          </p:cNvPicPr>
          <p:nvPr/>
        </p:nvPicPr>
        <p:blipFill>
          <a:blip r:embed="rId3"/>
          <a:stretch>
            <a:fillRect/>
          </a:stretch>
        </p:blipFill>
        <p:spPr>
          <a:xfrm>
            <a:off x="6564660" y="3089940"/>
            <a:ext cx="184343" cy="184343"/>
          </a:xfrm>
          <a:prstGeom prst="rect">
            <a:avLst/>
          </a:prstGeom>
        </p:spPr>
      </p:pic>
      <p:sp>
        <p:nvSpPr>
          <p:cNvPr id="20" name="Text 15"/>
          <p:cNvSpPr/>
          <p:nvPr/>
        </p:nvSpPr>
        <p:spPr>
          <a:xfrm>
            <a:off x="6995160" y="2935224"/>
            <a:ext cx="4553712" cy="1143000"/>
          </a:xfrm>
          <a:prstGeom prst="rect">
            <a:avLst/>
          </a:prstGeom>
          <a:noFill/>
          <a:ln/>
        </p:spPr>
        <p:txBody>
          <a:bodyPr wrap="square" lIns="0" tIns="0" rIns="0" bIns="0" rtlCol="0" anchor="t"/>
          <a:lstStyle/>
          <a:p>
            <a:pPr indent="0" marL="0">
              <a:lnSpc>
                <a:spcPct val="115000"/>
              </a:lnSpc>
              <a:buNone/>
            </a:pPr>
            <a:r>
              <a:rPr lang="en-US" sz="1400" b="1" dirty="0">
                <a:solidFill>
                  <a:srgbClr val="1E2761"/>
                </a:solidFill>
                <a:latin typeface="Calibri" pitchFamily="34" charset="0"/>
                <a:ea typeface="Calibri" pitchFamily="34" charset="-122"/>
                <a:cs typeface="Calibri" pitchFamily="34" charset="-120"/>
              </a:rPr>
              <a:t>Ollama — local</a:t>
            </a:r>
            <a:endParaRPr lang="en-US" sz="1400" dirty="0"/>
          </a:p>
          <a:p>
            <a:pPr indent="0" marL="0">
              <a:lnSpc>
                <a:spcPct val="115000"/>
              </a:lnSpc>
              <a:buNone/>
            </a:pPr>
            <a:r>
              <a:rPr lang="en-US" sz="1050" dirty="0">
                <a:solidFill>
                  <a:srgbClr val="1E2761"/>
                </a:solidFill>
                <a:latin typeface="Courier New" pitchFamily="34" charset="0"/>
                <a:ea typeface="Courier New" pitchFamily="34" charset="-122"/>
                <a:cs typeface="Courier New" pitchFamily="34" charset="-120"/>
              </a:rPr>
              <a:t>llama3.1:8b (default)</a:t>
            </a:r>
            <a:endParaRPr lang="en-US" sz="1400" dirty="0"/>
          </a:p>
          <a:p>
            <a:pPr indent="0" marL="0">
              <a:lnSpc>
                <a:spcPct val="115000"/>
              </a:lnSpc>
              <a:buNone/>
            </a:pPr>
            <a:r>
              <a:rPr lang="en-US" sz="1050" dirty="0">
                <a:solidFill>
                  <a:srgbClr val="3A4560"/>
                </a:solidFill>
                <a:latin typeface="Calibri" pitchFamily="34" charset="0"/>
                <a:ea typeface="Calibri" pitchFamily="34" charset="-122"/>
                <a:cs typeface="Calibri" pitchFamily="34" charset="-120"/>
              </a:rPr>
              <a:t>live model-availability check against localhost:11434</a:t>
            </a:r>
            <a:endParaRPr lang="en-US" sz="1400" dirty="0"/>
          </a:p>
        </p:txBody>
      </p:sp>
      <p:sp>
        <p:nvSpPr>
          <p:cNvPr id="21" name="Shape 16"/>
          <p:cNvSpPr/>
          <p:nvPr/>
        </p:nvSpPr>
        <p:spPr>
          <a:xfrm>
            <a:off x="6263640" y="4297680"/>
            <a:ext cx="5468112" cy="960120"/>
          </a:xfrm>
          <a:prstGeom prst="roundRect">
            <a:avLst>
              <a:gd name="adj" fmla="val 6667"/>
            </a:avLst>
          </a:prstGeom>
          <a:solidFill>
            <a:srgbClr val="EEF3FB"/>
          </a:solidFill>
          <a:ln/>
        </p:spPr>
      </p:sp>
      <p:sp>
        <p:nvSpPr>
          <p:cNvPr id="22" name="Text 17"/>
          <p:cNvSpPr/>
          <p:nvPr/>
        </p:nvSpPr>
        <p:spPr>
          <a:xfrm>
            <a:off x="6492240" y="4370832"/>
            <a:ext cx="5010912" cy="822960"/>
          </a:xfrm>
          <a:prstGeom prst="rect">
            <a:avLst/>
          </a:prstGeom>
          <a:noFill/>
          <a:ln/>
        </p:spPr>
        <p:txBody>
          <a:bodyPr wrap="square" lIns="0" tIns="0" rIns="0" bIns="0" rtlCol="0" anchor="ctr"/>
          <a:lstStyle/>
          <a:p>
            <a:pPr indent="0" marL="0">
              <a:lnSpc>
                <a:spcPct val="108000"/>
              </a:lnSpc>
              <a:buNone/>
            </a:pPr>
            <a:r>
              <a:rPr lang="en-US" sz="1100" b="1" dirty="0">
                <a:solidFill>
                  <a:srgbClr val="1E2761"/>
                </a:solidFill>
                <a:latin typeface="Calibri" pitchFamily="34" charset="0"/>
                <a:ea typeface="Calibri" pitchFamily="34" charset="-122"/>
                <a:cs typeface="Calibri" pitchFamily="34" charset="-120"/>
              </a:rPr>
              <a:t>One prompt template for both backends: </a:t>
            </a:r>
            <a:pPr indent="0" marL="0">
              <a:lnSpc>
                <a:spcPct val="108000"/>
              </a:lnSpc>
              <a:buNone/>
            </a:pPr>
            <a:r>
              <a:rPr lang="en-US" sz="1100" dirty="0">
                <a:solidFill>
                  <a:srgbClr val="3A4560"/>
                </a:solidFill>
                <a:latin typeface="Calibri" pitchFamily="34" charset="0"/>
                <a:ea typeface="Calibri" pitchFamily="34" charset="-122"/>
                <a:cs typeface="Calibri" pitchFamily="34" charset="-120"/>
              </a:rPr>
              <a:t>synthesize from the retrieved context, cite lectures by number, and flag gaps rather than invent content.</a:t>
            </a:r>
            <a:endParaRPr lang="en-US" sz="1100" dirty="0"/>
          </a:p>
        </p:txBody>
      </p:sp>
      <p:sp>
        <p:nvSpPr>
          <p:cNvPr id="23" name="Shape 18"/>
          <p:cNvSpPr/>
          <p:nvPr/>
        </p:nvSpPr>
        <p:spPr>
          <a:xfrm>
            <a:off x="457200" y="5486400"/>
            <a:ext cx="11274552" cy="914400"/>
          </a:xfrm>
          <a:prstGeom prst="roundRect">
            <a:avLst>
              <a:gd name="adj" fmla="val 7000"/>
            </a:avLst>
          </a:prstGeom>
          <a:solidFill>
            <a:srgbClr val="EEF3FB"/>
          </a:solidFill>
          <a:ln/>
        </p:spPr>
      </p:sp>
      <p:sp>
        <p:nvSpPr>
          <p:cNvPr id="24" name="Shape 19"/>
          <p:cNvSpPr/>
          <p:nvPr/>
        </p:nvSpPr>
        <p:spPr>
          <a:xfrm>
            <a:off x="658368" y="5751576"/>
            <a:ext cx="384048" cy="384048"/>
          </a:xfrm>
          <a:prstGeom prst="ellipse">
            <a:avLst/>
          </a:prstGeom>
          <a:solidFill>
            <a:srgbClr val="CADCFC"/>
          </a:solidFill>
          <a:ln/>
        </p:spPr>
      </p:sp>
      <p:pic>
        <p:nvPicPr>
          <p:cNvPr id="25" name="Image 3" descr="/home/claude/icons/message.png">    </p:cNvPr>
          <p:cNvPicPr>
            <a:picLocks noChangeAspect="1"/>
          </p:cNvPicPr>
          <p:nvPr/>
        </p:nvPicPr>
        <p:blipFill>
          <a:blip r:embed="rId4"/>
          <a:stretch>
            <a:fillRect/>
          </a:stretch>
        </p:blipFill>
        <p:spPr>
          <a:xfrm>
            <a:off x="758220" y="5851428"/>
            <a:ext cx="184343" cy="184343"/>
          </a:xfrm>
          <a:prstGeom prst="rect">
            <a:avLst/>
          </a:prstGeom>
        </p:spPr>
      </p:pic>
      <p:sp>
        <p:nvSpPr>
          <p:cNvPr id="26" name="Text 20"/>
          <p:cNvSpPr/>
          <p:nvPr/>
        </p:nvSpPr>
        <p:spPr>
          <a:xfrm>
            <a:off x="1207008" y="5486400"/>
            <a:ext cx="10378440" cy="914400"/>
          </a:xfrm>
          <a:prstGeom prst="rect">
            <a:avLst/>
          </a:prstGeom>
          <a:noFill/>
          <a:ln/>
        </p:spPr>
        <p:txBody>
          <a:bodyPr wrap="square" lIns="0" tIns="0" rIns="0" bIns="0" rtlCol="0" anchor="ctr"/>
          <a:lstStyle/>
          <a:p>
            <a:pPr indent="0" marL="0">
              <a:lnSpc>
                <a:spcPct val="112000"/>
              </a:lnSpc>
              <a:buNone/>
            </a:pPr>
            <a:r>
              <a:rPr lang="en-US" sz="1150" b="1" dirty="0">
                <a:solidFill>
                  <a:srgbClr val="1E2761"/>
                </a:solidFill>
                <a:latin typeface="Calibri" pitchFamily="34" charset="0"/>
                <a:ea typeface="Calibri" pitchFamily="34" charset="-122"/>
                <a:cs typeface="Calibri" pitchFamily="34" charset="-120"/>
              </a:rPr>
              <a:t>Serving — </a:t>
            </a:r>
            <a:pPr indent="0" marL="0">
              <a:lnSpc>
                <a:spcPct val="112000"/>
              </a:lnSpc>
              <a:buNone/>
            </a:pPr>
            <a:r>
              <a:rPr lang="en-US" sz="1150" dirty="0">
                <a:solidFill>
                  <a:srgbClr val="3A4560"/>
                </a:solidFill>
                <a:latin typeface="Calibri" pitchFamily="34" charset="0"/>
                <a:ea typeface="Calibri" pitchFamily="34" charset="-122"/>
                <a:cs typeface="Calibri" pitchFamily="34" charset="-120"/>
              </a:rPr>
              <a:t>FastAPI + Pydantic:  /api/chat  ·  /api/status  ·  /api/conversation/reset   (uvicorn, port 8000)</a:t>
            </a:r>
            <a:endParaRPr lang="en-US" sz="1150" dirty="0"/>
          </a:p>
          <a:p>
            <a:pPr indent="0" marL="0">
              <a:lnSpc>
                <a:spcPct val="112000"/>
              </a:lnSpc>
              <a:buNone/>
            </a:pPr>
            <a:r>
              <a:rPr lang="en-US" sz="1150" b="1" dirty="0">
                <a:solidFill>
                  <a:srgbClr val="1E2761"/>
                </a:solidFill>
                <a:latin typeface="Calibri" pitchFamily="34" charset="0"/>
                <a:ea typeface="Calibri" pitchFamily="34" charset="-122"/>
                <a:cs typeface="Calibri" pitchFamily="34" charset="-120"/>
              </a:rPr>
              <a:t>UI — </a:t>
            </a:r>
            <a:pPr indent="0" marL="0">
              <a:lnSpc>
                <a:spcPct val="112000"/>
              </a:lnSpc>
              <a:buNone/>
            </a:pPr>
            <a:r>
              <a:rPr lang="en-US" sz="1150" dirty="0">
                <a:solidFill>
                  <a:srgbClr val="3A4560"/>
                </a:solidFill>
                <a:latin typeface="Calibri" pitchFamily="34" charset="0"/>
                <a:ea typeface="Calibri" pitchFamily="34" charset="-122"/>
                <a:cs typeface="Calibri" pitchFamily="34" charset="-120"/>
              </a:rPr>
              <a:t>single self-contained static/index.html: vanilla HTML/CSS/JS, dark theme, Groq ⇄ Ollama switcher, served via StaticFiles.</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5486400" cy="219456"/>
          </a:xfrm>
          <a:prstGeom prst="rect">
            <a:avLst/>
          </a:prstGeom>
          <a:noFill/>
          <a:ln/>
        </p:spPr>
        <p:txBody>
          <a:bodyPr wrap="square" lIns="0" tIns="0" rIns="0" bIns="0" rtlCol="0" anchor="ctr"/>
          <a:lstStyle/>
          <a:p>
            <a:pPr indent="0" marL="0">
              <a:buNone/>
            </a:pPr>
            <a:r>
              <a:rPr lang="en-US" sz="950" b="1" spc="300" kern="0" dirty="0">
                <a:solidFill>
                  <a:srgbClr val="7C88A6"/>
                </a:solidFill>
                <a:latin typeface="Calibri" pitchFamily="34" charset="0"/>
                <a:ea typeface="Calibri" pitchFamily="34" charset="-122"/>
                <a:cs typeface="Calibri" pitchFamily="34" charset="-120"/>
              </a:rPr>
              <a:t>LECTUREBANK RAG CHATBOT</a:t>
            </a:r>
            <a:endParaRPr lang="en-US" sz="950" dirty="0"/>
          </a:p>
        </p:txBody>
      </p:sp>
      <p:sp>
        <p:nvSpPr>
          <p:cNvPr id="3" name="Text 1"/>
          <p:cNvSpPr/>
          <p:nvPr/>
        </p:nvSpPr>
        <p:spPr>
          <a:xfrm>
            <a:off x="457200" y="512064"/>
            <a:ext cx="11247120" cy="621792"/>
          </a:xfrm>
          <a:prstGeom prst="rect">
            <a:avLst/>
          </a:prstGeom>
          <a:noFill/>
          <a:ln/>
        </p:spPr>
        <p:txBody>
          <a:bodyPr wrap="square" lIns="0" tIns="0" rIns="0" bIns="0" rtlCol="0" anchor="ctr"/>
          <a:lstStyle/>
          <a:p>
            <a:pPr indent="0" marL="0">
              <a:buNone/>
            </a:pPr>
            <a:r>
              <a:rPr lang="en-US" sz="3600" b="1" dirty="0">
                <a:solidFill>
                  <a:srgbClr val="1E2761"/>
                </a:solidFill>
                <a:latin typeface="Cambria" pitchFamily="34" charset="0"/>
                <a:ea typeface="Cambria" pitchFamily="34" charset="-122"/>
                <a:cs typeface="Cambria" pitchFamily="34" charset="-120"/>
              </a:rPr>
              <a:t>Built From Scratch: the Automated Evaluation Suite</a:t>
            </a:r>
            <a:endParaRPr lang="en-US" sz="3600" dirty="0"/>
          </a:p>
        </p:txBody>
      </p:sp>
      <p:sp>
        <p:nvSpPr>
          <p:cNvPr id="4" name="Text 2"/>
          <p:cNvSpPr/>
          <p:nvPr/>
        </p:nvSpPr>
        <p:spPr>
          <a:xfrm>
            <a:off x="11475720" y="6510528"/>
            <a:ext cx="502920" cy="237744"/>
          </a:xfrm>
          <a:prstGeom prst="rect">
            <a:avLst/>
          </a:prstGeom>
          <a:noFill/>
          <a:ln/>
        </p:spPr>
        <p:txBody>
          <a:bodyPr wrap="square" lIns="0" tIns="0" rIns="0" bIns="0" rtlCol="0" anchor="ctr"/>
          <a:lstStyle/>
          <a:p>
            <a:pPr algn="r" indent="0" marL="0">
              <a:buNone/>
            </a:pPr>
            <a:r>
              <a:rPr lang="en-US" sz="900" dirty="0">
                <a:solidFill>
                  <a:srgbClr val="7C88A6"/>
                </a:solidFill>
                <a:latin typeface="Calibri" pitchFamily="34" charset="0"/>
                <a:ea typeface="Calibri" pitchFamily="34" charset="-122"/>
                <a:cs typeface="Calibri" pitchFamily="34" charset="-120"/>
              </a:rPr>
              <a:t>5</a:t>
            </a:r>
            <a:endParaRPr lang="en-US" sz="900" dirty="0"/>
          </a:p>
        </p:txBody>
      </p:sp>
      <p:sp>
        <p:nvSpPr>
          <p:cNvPr id="5" name="Text 3"/>
          <p:cNvSpPr/>
          <p:nvPr/>
        </p:nvSpPr>
        <p:spPr>
          <a:xfrm>
            <a:off x="457200" y="1207008"/>
            <a:ext cx="11247120" cy="384048"/>
          </a:xfrm>
          <a:prstGeom prst="rect">
            <a:avLst/>
          </a:prstGeom>
          <a:noFill/>
          <a:ln/>
        </p:spPr>
        <p:txBody>
          <a:bodyPr wrap="square" lIns="0" tIns="0" rIns="0" bIns="0" rtlCol="0" anchor="ctr"/>
          <a:lstStyle/>
          <a:p>
            <a:pPr indent="0" marL="0">
              <a:buNone/>
            </a:pPr>
            <a:r>
              <a:rPr lang="en-US" sz="1300" dirty="0">
                <a:solidFill>
                  <a:srgbClr val="3A4560"/>
                </a:solidFill>
                <a:latin typeface="Calibri" pitchFamily="34" charset="0"/>
                <a:ea typeface="Calibri" pitchFamily="34" charset="-122"/>
                <a:cs typeface="Calibri" pitchFamily="34" charset="-120"/>
              </a:rPr>
              <a:t>The original project shipped with no automated evaluation — answers were reviewed by eye. </a:t>
            </a:r>
            <a:pPr indent="0" marL="0">
              <a:buNone/>
            </a:pPr>
            <a:r>
              <a:rPr lang="en-US" sz="1300" b="1" dirty="0">
                <a:solidFill>
                  <a:srgbClr val="1E2761"/>
                </a:solidFill>
                <a:latin typeface="Calibri" pitchFamily="34" charset="0"/>
                <a:ea typeface="Calibri" pitchFamily="34" charset="-122"/>
                <a:cs typeface="Calibri" pitchFamily="34" charset="-120"/>
              </a:rPr>
              <a:t>A full eval/ package was added so quality is measured with numbers.</a:t>
            </a:r>
            <a:endParaRPr lang="en-US" sz="1300" dirty="0"/>
          </a:p>
        </p:txBody>
      </p:sp>
      <p:sp>
        <p:nvSpPr>
          <p:cNvPr id="6" name="Shape 4"/>
          <p:cNvSpPr/>
          <p:nvPr/>
        </p:nvSpPr>
        <p:spPr>
          <a:xfrm>
            <a:off x="457200" y="1755648"/>
            <a:ext cx="3602736" cy="1847088"/>
          </a:xfrm>
          <a:prstGeom prst="roundRect">
            <a:avLst>
              <a:gd name="adj" fmla="val 3465"/>
            </a:avLst>
          </a:prstGeom>
          <a:solidFill>
            <a:srgbClr val="EEF3FB"/>
          </a:solidFill>
          <a:ln/>
        </p:spPr>
      </p:sp>
      <p:sp>
        <p:nvSpPr>
          <p:cNvPr id="7" name="Shape 5"/>
          <p:cNvSpPr/>
          <p:nvPr/>
        </p:nvSpPr>
        <p:spPr>
          <a:xfrm>
            <a:off x="621792" y="1892808"/>
            <a:ext cx="365760" cy="365760"/>
          </a:xfrm>
          <a:prstGeom prst="ellipse">
            <a:avLst/>
          </a:prstGeom>
          <a:solidFill>
            <a:srgbClr val="CADCFC"/>
          </a:solidFill>
          <a:ln/>
        </p:spPr>
      </p:sp>
      <p:pic>
        <p:nvPicPr>
          <p:cNvPr id="8" name="Image 0" descr="/home/claude/icons/target.png">    </p:cNvPr>
          <p:cNvPicPr>
            <a:picLocks noChangeAspect="1"/>
          </p:cNvPicPr>
          <p:nvPr/>
        </p:nvPicPr>
        <p:blipFill>
          <a:blip r:embed="rId1"/>
          <a:stretch>
            <a:fillRect/>
          </a:stretch>
        </p:blipFill>
        <p:spPr>
          <a:xfrm>
            <a:off x="716890" y="1987906"/>
            <a:ext cx="175565" cy="175565"/>
          </a:xfrm>
          <a:prstGeom prst="rect">
            <a:avLst/>
          </a:prstGeom>
        </p:spPr>
      </p:pic>
      <p:sp>
        <p:nvSpPr>
          <p:cNvPr id="9" name="Text 6"/>
          <p:cNvSpPr/>
          <p:nvPr/>
        </p:nvSpPr>
        <p:spPr>
          <a:xfrm>
            <a:off x="1097280" y="1938528"/>
            <a:ext cx="2825496" cy="27432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Golden set</a:t>
            </a:r>
            <a:endParaRPr lang="en-US" sz="1300" dirty="0"/>
          </a:p>
        </p:txBody>
      </p:sp>
      <p:sp>
        <p:nvSpPr>
          <p:cNvPr id="10" name="Text 7"/>
          <p:cNvSpPr/>
          <p:nvPr/>
        </p:nvSpPr>
        <p:spPr>
          <a:xfrm>
            <a:off x="621792" y="2322576"/>
            <a:ext cx="3273552" cy="932688"/>
          </a:xfrm>
          <a:prstGeom prst="rect">
            <a:avLst/>
          </a:prstGeom>
          <a:noFill/>
          <a:ln/>
        </p:spPr>
        <p:txBody>
          <a:bodyPr wrap="square" lIns="0" tIns="0" rIns="0" bIns="0" rtlCol="0" anchor="ctr"/>
          <a:lstStyle/>
          <a:p>
            <a:pPr indent="0" marL="0">
              <a:lnSpc>
                <a:spcPct val="105000"/>
              </a:lnSpc>
              <a:buNone/>
            </a:pPr>
            <a:r>
              <a:rPr lang="en-US" sz="950" dirty="0">
                <a:solidFill>
                  <a:srgbClr val="3A4560"/>
                </a:solidFill>
                <a:latin typeface="Calibri" pitchFamily="34" charset="0"/>
                <a:ea typeface="Calibri" pitchFamily="34" charset="-122"/>
                <a:cs typeface="Calibri" pitchFamily="34" charset="-120"/>
              </a:rPr>
              <a:t>18 in-scope questions grounded in actually-indexed records (13 TSV rows + 5 named PDFs) + 5 out-of-scope, each with a known-correct source matcher.</a:t>
            </a:r>
            <a:endParaRPr lang="en-US" sz="950" dirty="0"/>
          </a:p>
        </p:txBody>
      </p:sp>
      <p:sp>
        <p:nvSpPr>
          <p:cNvPr id="11" name="Text 8"/>
          <p:cNvSpPr/>
          <p:nvPr/>
        </p:nvSpPr>
        <p:spPr>
          <a:xfrm>
            <a:off x="621792" y="3310128"/>
            <a:ext cx="3273552" cy="219456"/>
          </a:xfrm>
          <a:prstGeom prst="rect">
            <a:avLst/>
          </a:prstGeom>
          <a:noFill/>
          <a:ln/>
        </p:spPr>
        <p:txBody>
          <a:bodyPr wrap="square" lIns="0" tIns="0" rIns="0" bIns="0" rtlCol="0" anchor="ctr"/>
          <a:lstStyle/>
          <a:p>
            <a:pPr indent="0" marL="0">
              <a:buNone/>
            </a:pPr>
            <a:r>
              <a:rPr lang="en-US" sz="850" dirty="0">
                <a:solidFill>
                  <a:srgbClr val="7C88A6"/>
                </a:solidFill>
                <a:latin typeface="Courier New" pitchFamily="34" charset="0"/>
                <a:ea typeface="Courier New" pitchFamily="34" charset="-122"/>
                <a:cs typeface="Courier New" pitchFamily="34" charset="-120"/>
              </a:rPr>
              <a:t>eval/golden_set.py</a:t>
            </a:r>
            <a:endParaRPr lang="en-US" sz="850" dirty="0"/>
          </a:p>
        </p:txBody>
      </p:sp>
      <p:sp>
        <p:nvSpPr>
          <p:cNvPr id="12" name="Shape 9"/>
          <p:cNvSpPr/>
          <p:nvPr/>
        </p:nvSpPr>
        <p:spPr>
          <a:xfrm>
            <a:off x="4288536" y="1755648"/>
            <a:ext cx="3602736" cy="1847088"/>
          </a:xfrm>
          <a:prstGeom prst="roundRect">
            <a:avLst>
              <a:gd name="adj" fmla="val 3465"/>
            </a:avLst>
          </a:prstGeom>
          <a:solidFill>
            <a:srgbClr val="EEF3FB"/>
          </a:solidFill>
          <a:ln/>
        </p:spPr>
      </p:sp>
      <p:sp>
        <p:nvSpPr>
          <p:cNvPr id="13" name="Shape 10"/>
          <p:cNvSpPr/>
          <p:nvPr/>
        </p:nvSpPr>
        <p:spPr>
          <a:xfrm>
            <a:off x="4453128" y="1892808"/>
            <a:ext cx="365760" cy="365760"/>
          </a:xfrm>
          <a:prstGeom prst="ellipse">
            <a:avLst/>
          </a:prstGeom>
          <a:solidFill>
            <a:srgbClr val="CADCFC"/>
          </a:solidFill>
          <a:ln/>
        </p:spPr>
      </p:sp>
      <p:pic>
        <p:nvPicPr>
          <p:cNvPr id="14" name="Image 1" descr="/home/claude/icons/gitmerge.png">    </p:cNvPr>
          <p:cNvPicPr>
            <a:picLocks noChangeAspect="1"/>
          </p:cNvPicPr>
          <p:nvPr/>
        </p:nvPicPr>
        <p:blipFill>
          <a:blip r:embed="rId2"/>
          <a:stretch>
            <a:fillRect/>
          </a:stretch>
        </p:blipFill>
        <p:spPr>
          <a:xfrm>
            <a:off x="4548226" y="1987906"/>
            <a:ext cx="175565" cy="175565"/>
          </a:xfrm>
          <a:prstGeom prst="rect">
            <a:avLst/>
          </a:prstGeom>
        </p:spPr>
      </p:pic>
      <p:sp>
        <p:nvSpPr>
          <p:cNvPr id="15" name="Text 11"/>
          <p:cNvSpPr/>
          <p:nvPr/>
        </p:nvSpPr>
        <p:spPr>
          <a:xfrm>
            <a:off x="4928616" y="1938528"/>
            <a:ext cx="2825496" cy="27432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Same code path as prod</a:t>
            </a:r>
            <a:endParaRPr lang="en-US" sz="1300" dirty="0"/>
          </a:p>
        </p:txBody>
      </p:sp>
      <p:sp>
        <p:nvSpPr>
          <p:cNvPr id="16" name="Text 12"/>
          <p:cNvSpPr/>
          <p:nvPr/>
        </p:nvSpPr>
        <p:spPr>
          <a:xfrm>
            <a:off x="4453128" y="2322576"/>
            <a:ext cx="3273552" cy="932688"/>
          </a:xfrm>
          <a:prstGeom prst="rect">
            <a:avLst/>
          </a:prstGeom>
          <a:noFill/>
          <a:ln/>
        </p:spPr>
        <p:txBody>
          <a:bodyPr wrap="square" lIns="0" tIns="0" rIns="0" bIns="0" rtlCol="0" anchor="ctr"/>
          <a:lstStyle/>
          <a:p>
            <a:pPr indent="0" marL="0">
              <a:lnSpc>
                <a:spcPct val="105000"/>
              </a:lnSpc>
              <a:buNone/>
            </a:pPr>
            <a:r>
              <a:rPr lang="en-US" sz="950" dirty="0">
                <a:solidFill>
                  <a:srgbClr val="3A4560"/>
                </a:solidFill>
                <a:latin typeface="Calibri" pitchFamily="34" charset="0"/>
                <a:ea typeface="Calibri" pitchFamily="34" charset="-122"/>
                <a:cs typeface="Calibri" pitchFamily="34" charset="-120"/>
              </a:rPr>
              <a:t>A thin wrapper reuses app.py’s real build_prompt / detect_scope logic, so the eval exercises exactly what the live app runs — it cannot drift.</a:t>
            </a:r>
            <a:endParaRPr lang="en-US" sz="950" dirty="0"/>
          </a:p>
        </p:txBody>
      </p:sp>
      <p:sp>
        <p:nvSpPr>
          <p:cNvPr id="17" name="Text 13"/>
          <p:cNvSpPr/>
          <p:nvPr/>
        </p:nvSpPr>
        <p:spPr>
          <a:xfrm>
            <a:off x="4453128" y="3310128"/>
            <a:ext cx="3273552" cy="219456"/>
          </a:xfrm>
          <a:prstGeom prst="rect">
            <a:avLst/>
          </a:prstGeom>
          <a:noFill/>
          <a:ln/>
        </p:spPr>
        <p:txBody>
          <a:bodyPr wrap="square" lIns="0" tIns="0" rIns="0" bIns="0" rtlCol="0" anchor="ctr"/>
          <a:lstStyle/>
          <a:p>
            <a:pPr indent="0" marL="0">
              <a:buNone/>
            </a:pPr>
            <a:r>
              <a:rPr lang="en-US" sz="850" dirty="0">
                <a:solidFill>
                  <a:srgbClr val="7C88A6"/>
                </a:solidFill>
                <a:latin typeface="Courier New" pitchFamily="34" charset="0"/>
                <a:ea typeface="Courier New" pitchFamily="34" charset="-122"/>
                <a:cs typeface="Courier New" pitchFamily="34" charset="-120"/>
              </a:rPr>
              <a:t>eval/rag_pipeline.py</a:t>
            </a:r>
            <a:endParaRPr lang="en-US" sz="850" dirty="0"/>
          </a:p>
        </p:txBody>
      </p:sp>
      <p:sp>
        <p:nvSpPr>
          <p:cNvPr id="18" name="Shape 14"/>
          <p:cNvSpPr/>
          <p:nvPr/>
        </p:nvSpPr>
        <p:spPr>
          <a:xfrm>
            <a:off x="8119872" y="1755648"/>
            <a:ext cx="3602736" cy="1847088"/>
          </a:xfrm>
          <a:prstGeom prst="roundRect">
            <a:avLst>
              <a:gd name="adj" fmla="val 3465"/>
            </a:avLst>
          </a:prstGeom>
          <a:solidFill>
            <a:srgbClr val="EEF3FB"/>
          </a:solidFill>
          <a:ln/>
        </p:spPr>
      </p:sp>
      <p:sp>
        <p:nvSpPr>
          <p:cNvPr id="19" name="Shape 15"/>
          <p:cNvSpPr/>
          <p:nvPr/>
        </p:nvSpPr>
        <p:spPr>
          <a:xfrm>
            <a:off x="8284464" y="1892808"/>
            <a:ext cx="365760" cy="365760"/>
          </a:xfrm>
          <a:prstGeom prst="ellipse">
            <a:avLst/>
          </a:prstGeom>
          <a:solidFill>
            <a:srgbClr val="CADCFC"/>
          </a:solidFill>
          <a:ln/>
        </p:spPr>
      </p:sp>
      <p:pic>
        <p:nvPicPr>
          <p:cNvPr id="20" name="Image 2" descr="/home/claude/icons/barchart.png">    </p:cNvPr>
          <p:cNvPicPr>
            <a:picLocks noChangeAspect="1"/>
          </p:cNvPicPr>
          <p:nvPr/>
        </p:nvPicPr>
        <p:blipFill>
          <a:blip r:embed="rId3"/>
          <a:stretch>
            <a:fillRect/>
          </a:stretch>
        </p:blipFill>
        <p:spPr>
          <a:xfrm>
            <a:off x="8379562" y="1987906"/>
            <a:ext cx="175565" cy="175565"/>
          </a:xfrm>
          <a:prstGeom prst="rect">
            <a:avLst/>
          </a:prstGeom>
        </p:spPr>
      </p:pic>
      <p:sp>
        <p:nvSpPr>
          <p:cNvPr id="21" name="Text 16"/>
          <p:cNvSpPr/>
          <p:nvPr/>
        </p:nvSpPr>
        <p:spPr>
          <a:xfrm>
            <a:off x="8759952" y="1938528"/>
            <a:ext cx="2825496" cy="27432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Deterministic metrics</a:t>
            </a:r>
            <a:endParaRPr lang="en-US" sz="1300" dirty="0"/>
          </a:p>
        </p:txBody>
      </p:sp>
      <p:sp>
        <p:nvSpPr>
          <p:cNvPr id="22" name="Text 17"/>
          <p:cNvSpPr/>
          <p:nvPr/>
        </p:nvSpPr>
        <p:spPr>
          <a:xfrm>
            <a:off x="8284464" y="2322576"/>
            <a:ext cx="3273552" cy="932688"/>
          </a:xfrm>
          <a:prstGeom prst="rect">
            <a:avLst/>
          </a:prstGeom>
          <a:noFill/>
          <a:ln/>
        </p:spPr>
        <p:txBody>
          <a:bodyPr wrap="square" lIns="0" tIns="0" rIns="0" bIns="0" rtlCol="0" anchor="ctr"/>
          <a:lstStyle/>
          <a:p>
            <a:pPr indent="0" marL="0">
              <a:lnSpc>
                <a:spcPct val="105000"/>
              </a:lnSpc>
              <a:buNone/>
            </a:pPr>
            <a:r>
              <a:rPr lang="en-US" sz="950" dirty="0">
                <a:solidFill>
                  <a:srgbClr val="3A4560"/>
                </a:solidFill>
                <a:latin typeface="Calibri" pitchFamily="34" charset="0"/>
                <a:ea typeface="Calibri" pitchFamily="34" charset="-122"/>
                <a:cs typeface="Calibri" pitchFamily="34" charset="-120"/>
              </a:rPr>
              <a:t>Hit rate, MRR, precision@k, and a keyword-coverage context-recall proxy — no LLM involved, fully repeatable.</a:t>
            </a:r>
            <a:endParaRPr lang="en-US" sz="950" dirty="0"/>
          </a:p>
        </p:txBody>
      </p:sp>
      <p:sp>
        <p:nvSpPr>
          <p:cNvPr id="23" name="Text 18"/>
          <p:cNvSpPr/>
          <p:nvPr/>
        </p:nvSpPr>
        <p:spPr>
          <a:xfrm>
            <a:off x="8284464" y="3310128"/>
            <a:ext cx="3273552" cy="219456"/>
          </a:xfrm>
          <a:prstGeom prst="rect">
            <a:avLst/>
          </a:prstGeom>
          <a:noFill/>
          <a:ln/>
        </p:spPr>
        <p:txBody>
          <a:bodyPr wrap="square" lIns="0" tIns="0" rIns="0" bIns="0" rtlCol="0" anchor="ctr"/>
          <a:lstStyle/>
          <a:p>
            <a:pPr indent="0" marL="0">
              <a:buNone/>
            </a:pPr>
            <a:r>
              <a:rPr lang="en-US" sz="850" dirty="0">
                <a:solidFill>
                  <a:srgbClr val="7C88A6"/>
                </a:solidFill>
                <a:latin typeface="Courier New" pitchFamily="34" charset="0"/>
                <a:ea typeface="Courier New" pitchFamily="34" charset="-122"/>
                <a:cs typeface="Courier New" pitchFamily="34" charset="-120"/>
              </a:rPr>
              <a:t>eval/metrics.py</a:t>
            </a:r>
            <a:endParaRPr lang="en-US" sz="850" dirty="0"/>
          </a:p>
        </p:txBody>
      </p:sp>
      <p:sp>
        <p:nvSpPr>
          <p:cNvPr id="24" name="Shape 19"/>
          <p:cNvSpPr/>
          <p:nvPr/>
        </p:nvSpPr>
        <p:spPr>
          <a:xfrm>
            <a:off x="457200" y="3749040"/>
            <a:ext cx="3602736" cy="1847088"/>
          </a:xfrm>
          <a:prstGeom prst="roundRect">
            <a:avLst>
              <a:gd name="adj" fmla="val 3465"/>
            </a:avLst>
          </a:prstGeom>
          <a:solidFill>
            <a:srgbClr val="EEF3FB"/>
          </a:solidFill>
          <a:ln/>
        </p:spPr>
      </p:sp>
      <p:sp>
        <p:nvSpPr>
          <p:cNvPr id="25" name="Shape 20"/>
          <p:cNvSpPr/>
          <p:nvPr/>
        </p:nvSpPr>
        <p:spPr>
          <a:xfrm>
            <a:off x="621792" y="3886200"/>
            <a:ext cx="365760" cy="365760"/>
          </a:xfrm>
          <a:prstGeom prst="ellipse">
            <a:avLst/>
          </a:prstGeom>
          <a:solidFill>
            <a:srgbClr val="CADCFC"/>
          </a:solidFill>
          <a:ln/>
        </p:spPr>
      </p:sp>
      <p:pic>
        <p:nvPicPr>
          <p:cNvPr id="26" name="Image 3" descr="/home/claude/icons/eye.png">    </p:cNvPr>
          <p:cNvPicPr>
            <a:picLocks noChangeAspect="1"/>
          </p:cNvPicPr>
          <p:nvPr/>
        </p:nvPicPr>
        <p:blipFill>
          <a:blip r:embed="rId4"/>
          <a:stretch>
            <a:fillRect/>
          </a:stretch>
        </p:blipFill>
        <p:spPr>
          <a:xfrm>
            <a:off x="716890" y="3981298"/>
            <a:ext cx="175565" cy="175565"/>
          </a:xfrm>
          <a:prstGeom prst="rect">
            <a:avLst/>
          </a:prstGeom>
        </p:spPr>
      </p:pic>
      <p:sp>
        <p:nvSpPr>
          <p:cNvPr id="27" name="Text 21"/>
          <p:cNvSpPr/>
          <p:nvPr/>
        </p:nvSpPr>
        <p:spPr>
          <a:xfrm>
            <a:off x="1097280" y="3931920"/>
            <a:ext cx="2825496" cy="27432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LLM-as-judge</a:t>
            </a:r>
            <a:endParaRPr lang="en-US" sz="1300" dirty="0"/>
          </a:p>
        </p:txBody>
      </p:sp>
      <p:sp>
        <p:nvSpPr>
          <p:cNvPr id="28" name="Text 22"/>
          <p:cNvSpPr/>
          <p:nvPr/>
        </p:nvSpPr>
        <p:spPr>
          <a:xfrm>
            <a:off x="621792" y="4315968"/>
            <a:ext cx="3273552" cy="932688"/>
          </a:xfrm>
          <a:prstGeom prst="rect">
            <a:avLst/>
          </a:prstGeom>
          <a:noFill/>
          <a:ln/>
        </p:spPr>
        <p:txBody>
          <a:bodyPr wrap="square" lIns="0" tIns="0" rIns="0" bIns="0" rtlCol="0" anchor="ctr"/>
          <a:lstStyle/>
          <a:p>
            <a:pPr indent="0" marL="0">
              <a:lnSpc>
                <a:spcPct val="105000"/>
              </a:lnSpc>
              <a:buNone/>
            </a:pPr>
            <a:r>
              <a:rPr lang="en-US" sz="950" dirty="0">
                <a:solidFill>
                  <a:srgbClr val="3A4560"/>
                </a:solidFill>
                <a:latin typeface="Calibri" pitchFamily="34" charset="0"/>
                <a:ea typeface="Calibri" pitchFamily="34" charset="-122"/>
                <a:cs typeface="Calibri" pitchFamily="34" charset="-120"/>
              </a:rPr>
              <a:t>Faithfulness, answer relevancy, context precision — judged by openai/gpt-oss-20b, deliberately a different model from the generator to reduce self-grading bias. A ragas stand-in (no C++ toolchain here).</a:t>
            </a:r>
            <a:endParaRPr lang="en-US" sz="950" dirty="0"/>
          </a:p>
        </p:txBody>
      </p:sp>
      <p:sp>
        <p:nvSpPr>
          <p:cNvPr id="29" name="Text 23"/>
          <p:cNvSpPr/>
          <p:nvPr/>
        </p:nvSpPr>
        <p:spPr>
          <a:xfrm>
            <a:off x="621792" y="5303520"/>
            <a:ext cx="3273552" cy="219456"/>
          </a:xfrm>
          <a:prstGeom prst="rect">
            <a:avLst/>
          </a:prstGeom>
          <a:noFill/>
          <a:ln/>
        </p:spPr>
        <p:txBody>
          <a:bodyPr wrap="square" lIns="0" tIns="0" rIns="0" bIns="0" rtlCol="0" anchor="ctr"/>
          <a:lstStyle/>
          <a:p>
            <a:pPr indent="0" marL="0">
              <a:buNone/>
            </a:pPr>
            <a:r>
              <a:rPr lang="en-US" sz="850" dirty="0">
                <a:solidFill>
                  <a:srgbClr val="7C88A6"/>
                </a:solidFill>
                <a:latin typeface="Courier New" pitchFamily="34" charset="0"/>
                <a:ea typeface="Courier New" pitchFamily="34" charset="-122"/>
                <a:cs typeface="Courier New" pitchFamily="34" charset="-120"/>
              </a:rPr>
              <a:t>eval/llm_judge.py</a:t>
            </a:r>
            <a:endParaRPr lang="en-US" sz="850" dirty="0"/>
          </a:p>
        </p:txBody>
      </p:sp>
      <p:sp>
        <p:nvSpPr>
          <p:cNvPr id="30" name="Shape 24"/>
          <p:cNvSpPr/>
          <p:nvPr/>
        </p:nvSpPr>
        <p:spPr>
          <a:xfrm>
            <a:off x="4288536" y="3749040"/>
            <a:ext cx="3602736" cy="1847088"/>
          </a:xfrm>
          <a:prstGeom prst="roundRect">
            <a:avLst>
              <a:gd name="adj" fmla="val 3465"/>
            </a:avLst>
          </a:prstGeom>
          <a:solidFill>
            <a:srgbClr val="EEF3FB"/>
          </a:solidFill>
          <a:ln/>
        </p:spPr>
      </p:sp>
      <p:sp>
        <p:nvSpPr>
          <p:cNvPr id="31" name="Shape 25"/>
          <p:cNvSpPr/>
          <p:nvPr/>
        </p:nvSpPr>
        <p:spPr>
          <a:xfrm>
            <a:off x="4453128" y="3886200"/>
            <a:ext cx="365760" cy="365760"/>
          </a:xfrm>
          <a:prstGeom prst="ellipse">
            <a:avLst/>
          </a:prstGeom>
          <a:solidFill>
            <a:srgbClr val="CADCFC"/>
          </a:solidFill>
          <a:ln/>
        </p:spPr>
      </p:sp>
      <p:pic>
        <p:nvPicPr>
          <p:cNvPr id="32" name="Image 4" descr="/home/claude/icons/terminal.png">    </p:cNvPr>
          <p:cNvPicPr>
            <a:picLocks noChangeAspect="1"/>
          </p:cNvPicPr>
          <p:nvPr/>
        </p:nvPicPr>
        <p:blipFill>
          <a:blip r:embed="rId5"/>
          <a:stretch>
            <a:fillRect/>
          </a:stretch>
        </p:blipFill>
        <p:spPr>
          <a:xfrm>
            <a:off x="4548226" y="3981298"/>
            <a:ext cx="175565" cy="175565"/>
          </a:xfrm>
          <a:prstGeom prst="rect">
            <a:avLst/>
          </a:prstGeom>
        </p:spPr>
      </p:pic>
      <p:sp>
        <p:nvSpPr>
          <p:cNvPr id="33" name="Text 26"/>
          <p:cNvSpPr/>
          <p:nvPr/>
        </p:nvSpPr>
        <p:spPr>
          <a:xfrm>
            <a:off x="4928616" y="3931920"/>
            <a:ext cx="2825496" cy="27432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Runners</a:t>
            </a:r>
            <a:endParaRPr lang="en-US" sz="1300" dirty="0"/>
          </a:p>
        </p:txBody>
      </p:sp>
      <p:sp>
        <p:nvSpPr>
          <p:cNvPr id="34" name="Text 27"/>
          <p:cNvSpPr/>
          <p:nvPr/>
        </p:nvSpPr>
        <p:spPr>
          <a:xfrm>
            <a:off x="4453128" y="4315968"/>
            <a:ext cx="3273552" cy="932688"/>
          </a:xfrm>
          <a:prstGeom prst="rect">
            <a:avLst/>
          </a:prstGeom>
          <a:noFill/>
          <a:ln/>
        </p:spPr>
        <p:txBody>
          <a:bodyPr wrap="square" lIns="0" tIns="0" rIns="0" bIns="0" rtlCol="0" anchor="ctr"/>
          <a:lstStyle/>
          <a:p>
            <a:pPr indent="0" marL="0">
              <a:lnSpc>
                <a:spcPct val="105000"/>
              </a:lnSpc>
              <a:buNone/>
            </a:pPr>
            <a:r>
              <a:rPr lang="en-US" sz="950" dirty="0">
                <a:solidFill>
                  <a:srgbClr val="3A4560"/>
                </a:solidFill>
                <a:latin typeface="Calibri" pitchFamily="34" charset="0"/>
                <a:ea typeface="Calibri" pitchFamily="34" charset="-122"/>
                <a:cs typeface="Calibri" pitchFamily="34" charset="-120"/>
              </a:rPr>
              <a:t>Retrieval-only eval, full generation eval, a Groq-vs-Ollama latency bench, and run_all — which orchestrates everything into a summary.</a:t>
            </a:r>
            <a:endParaRPr lang="en-US" sz="950" dirty="0"/>
          </a:p>
        </p:txBody>
      </p:sp>
      <p:sp>
        <p:nvSpPr>
          <p:cNvPr id="35" name="Text 28"/>
          <p:cNvSpPr/>
          <p:nvPr/>
        </p:nvSpPr>
        <p:spPr>
          <a:xfrm>
            <a:off x="4453128" y="5303520"/>
            <a:ext cx="3273552" cy="219456"/>
          </a:xfrm>
          <a:prstGeom prst="rect">
            <a:avLst/>
          </a:prstGeom>
          <a:noFill/>
          <a:ln/>
        </p:spPr>
        <p:txBody>
          <a:bodyPr wrap="square" lIns="0" tIns="0" rIns="0" bIns="0" rtlCol="0" anchor="ctr"/>
          <a:lstStyle/>
          <a:p>
            <a:pPr indent="0" marL="0">
              <a:buNone/>
            </a:pPr>
            <a:r>
              <a:rPr lang="en-US" sz="850" dirty="0">
                <a:solidFill>
                  <a:srgbClr val="7C88A6"/>
                </a:solidFill>
                <a:latin typeface="Courier New" pitchFamily="34" charset="0"/>
                <a:ea typeface="Courier New" pitchFamily="34" charset="-122"/>
                <a:cs typeface="Courier New" pitchFamily="34" charset="-120"/>
              </a:rPr>
              <a:t>eval/run_*.py</a:t>
            </a:r>
            <a:endParaRPr lang="en-US" sz="850" dirty="0"/>
          </a:p>
        </p:txBody>
      </p:sp>
      <p:sp>
        <p:nvSpPr>
          <p:cNvPr id="36" name="Shape 29"/>
          <p:cNvSpPr/>
          <p:nvPr/>
        </p:nvSpPr>
        <p:spPr>
          <a:xfrm>
            <a:off x="8119872" y="3749040"/>
            <a:ext cx="3602736" cy="1847088"/>
          </a:xfrm>
          <a:prstGeom prst="roundRect">
            <a:avLst>
              <a:gd name="adj" fmla="val 3465"/>
            </a:avLst>
          </a:prstGeom>
          <a:solidFill>
            <a:srgbClr val="EEF3FB"/>
          </a:solidFill>
          <a:ln/>
        </p:spPr>
      </p:sp>
      <p:sp>
        <p:nvSpPr>
          <p:cNvPr id="37" name="Shape 30"/>
          <p:cNvSpPr/>
          <p:nvPr/>
        </p:nvSpPr>
        <p:spPr>
          <a:xfrm>
            <a:off x="8284464" y="3886200"/>
            <a:ext cx="365760" cy="365760"/>
          </a:xfrm>
          <a:prstGeom prst="ellipse">
            <a:avLst/>
          </a:prstGeom>
          <a:solidFill>
            <a:srgbClr val="CADCFC"/>
          </a:solidFill>
          <a:ln/>
        </p:spPr>
      </p:sp>
      <p:pic>
        <p:nvPicPr>
          <p:cNvPr id="38" name="Image 5" descr="/home/claude/icons/folder.png">    </p:cNvPr>
          <p:cNvPicPr>
            <a:picLocks noChangeAspect="1"/>
          </p:cNvPicPr>
          <p:nvPr/>
        </p:nvPicPr>
        <p:blipFill>
          <a:blip r:embed="rId6"/>
          <a:stretch>
            <a:fillRect/>
          </a:stretch>
        </p:blipFill>
        <p:spPr>
          <a:xfrm>
            <a:off x="8379562" y="3981298"/>
            <a:ext cx="175565" cy="175565"/>
          </a:xfrm>
          <a:prstGeom prst="rect">
            <a:avLst/>
          </a:prstGeom>
        </p:spPr>
      </p:pic>
      <p:sp>
        <p:nvSpPr>
          <p:cNvPr id="39" name="Text 31"/>
          <p:cNvSpPr/>
          <p:nvPr/>
        </p:nvSpPr>
        <p:spPr>
          <a:xfrm>
            <a:off x="8759952" y="3931920"/>
            <a:ext cx="2825496" cy="27432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Full per-question output</a:t>
            </a:r>
            <a:endParaRPr lang="en-US" sz="1300" dirty="0"/>
          </a:p>
        </p:txBody>
      </p:sp>
      <p:sp>
        <p:nvSpPr>
          <p:cNvPr id="40" name="Text 32"/>
          <p:cNvSpPr/>
          <p:nvPr/>
        </p:nvSpPr>
        <p:spPr>
          <a:xfrm>
            <a:off x="8284464" y="4315968"/>
            <a:ext cx="3273552" cy="932688"/>
          </a:xfrm>
          <a:prstGeom prst="rect">
            <a:avLst/>
          </a:prstGeom>
          <a:noFill/>
          <a:ln/>
        </p:spPr>
        <p:txBody>
          <a:bodyPr wrap="square" lIns="0" tIns="0" rIns="0" bIns="0" rtlCol="0" anchor="ctr"/>
          <a:lstStyle/>
          <a:p>
            <a:pPr indent="0" marL="0">
              <a:lnSpc>
                <a:spcPct val="105000"/>
              </a:lnSpc>
              <a:buNone/>
            </a:pPr>
            <a:r>
              <a:rPr lang="en-US" sz="950" dirty="0">
                <a:solidFill>
                  <a:srgbClr val="3A4560"/>
                </a:solidFill>
                <a:latin typeface="Calibri" pitchFamily="34" charset="0"/>
                <a:ea typeface="Calibri" pitchFamily="34" charset="-122"/>
                <a:cs typeface="Calibri" pitchFamily="34" charset="-120"/>
              </a:rPr>
              <a:t>Every generated answer, judge verdict and unsupported-claim list is saved automatically on each run.</a:t>
            </a:r>
            <a:endParaRPr lang="en-US" sz="950" dirty="0"/>
          </a:p>
        </p:txBody>
      </p:sp>
      <p:sp>
        <p:nvSpPr>
          <p:cNvPr id="41" name="Text 33"/>
          <p:cNvSpPr/>
          <p:nvPr/>
        </p:nvSpPr>
        <p:spPr>
          <a:xfrm>
            <a:off x="8284464" y="5303520"/>
            <a:ext cx="3273552" cy="219456"/>
          </a:xfrm>
          <a:prstGeom prst="rect">
            <a:avLst/>
          </a:prstGeom>
          <a:noFill/>
          <a:ln/>
        </p:spPr>
        <p:txBody>
          <a:bodyPr wrap="square" lIns="0" tIns="0" rIns="0" bIns="0" rtlCol="0" anchor="ctr"/>
          <a:lstStyle/>
          <a:p>
            <a:pPr indent="0" marL="0">
              <a:buNone/>
            </a:pPr>
            <a:r>
              <a:rPr lang="en-US" sz="850" dirty="0">
                <a:solidFill>
                  <a:srgbClr val="7C88A6"/>
                </a:solidFill>
                <a:latin typeface="Courier New" pitchFamily="34" charset="0"/>
                <a:ea typeface="Courier New" pitchFamily="34" charset="-122"/>
                <a:cs typeface="Courier New" pitchFamily="34" charset="-120"/>
              </a:rPr>
              <a:t>eval/results/*.json</a:t>
            </a:r>
            <a:endParaRPr lang="en-US" sz="850" dirty="0"/>
          </a:p>
        </p:txBody>
      </p:sp>
      <p:sp>
        <p:nvSpPr>
          <p:cNvPr id="42" name="Text 34"/>
          <p:cNvSpPr/>
          <p:nvPr/>
        </p:nvSpPr>
        <p:spPr>
          <a:xfrm>
            <a:off x="457200" y="5779008"/>
            <a:ext cx="11247120" cy="274320"/>
          </a:xfrm>
          <a:prstGeom prst="rect">
            <a:avLst/>
          </a:prstGeom>
          <a:noFill/>
          <a:ln/>
        </p:spPr>
        <p:txBody>
          <a:bodyPr wrap="square" lIns="0" tIns="0" rIns="0" bIns="0" rtlCol="0" anchor="ctr"/>
          <a:lstStyle/>
          <a:p>
            <a:pPr algn="ctr" indent="0" marL="0">
              <a:buNone/>
            </a:pPr>
            <a:r>
              <a:rPr lang="en-US" sz="1150" b="1" i="1" dirty="0">
                <a:solidFill>
                  <a:srgbClr val="1E2761"/>
                </a:solidFill>
                <a:latin typeface="Calibri" pitchFamily="34" charset="0"/>
                <a:ea typeface="Calibri" pitchFamily="34" charset="-122"/>
                <a:cs typeface="Calibri" pitchFamily="34" charset="-120"/>
              </a:rPr>
              <a:t>Production logic untouched — app.py is only called, never modified.</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5486400" cy="219456"/>
          </a:xfrm>
          <a:prstGeom prst="rect">
            <a:avLst/>
          </a:prstGeom>
          <a:noFill/>
          <a:ln/>
        </p:spPr>
        <p:txBody>
          <a:bodyPr wrap="square" lIns="0" tIns="0" rIns="0" bIns="0" rtlCol="0" anchor="ctr"/>
          <a:lstStyle/>
          <a:p>
            <a:pPr indent="0" marL="0">
              <a:buNone/>
            </a:pPr>
            <a:r>
              <a:rPr lang="en-US" sz="950" b="1" spc="300" kern="0" dirty="0">
                <a:solidFill>
                  <a:srgbClr val="7C88A6"/>
                </a:solidFill>
                <a:latin typeface="Calibri" pitchFamily="34" charset="0"/>
                <a:ea typeface="Calibri" pitchFamily="34" charset="-122"/>
                <a:cs typeface="Calibri" pitchFamily="34" charset="-120"/>
              </a:rPr>
              <a:t>LECTUREBANK RAG CHATBOT</a:t>
            </a:r>
            <a:endParaRPr lang="en-US" sz="950" dirty="0"/>
          </a:p>
        </p:txBody>
      </p:sp>
      <p:sp>
        <p:nvSpPr>
          <p:cNvPr id="3" name="Text 1"/>
          <p:cNvSpPr/>
          <p:nvPr/>
        </p:nvSpPr>
        <p:spPr>
          <a:xfrm>
            <a:off x="457200" y="512064"/>
            <a:ext cx="11247120" cy="621792"/>
          </a:xfrm>
          <a:prstGeom prst="rect">
            <a:avLst/>
          </a:prstGeom>
          <a:noFill/>
          <a:ln/>
        </p:spPr>
        <p:txBody>
          <a:bodyPr wrap="square" lIns="0" tIns="0" rIns="0" bIns="0" rtlCol="0" anchor="ctr"/>
          <a:lstStyle/>
          <a:p>
            <a:pPr indent="0" marL="0">
              <a:buNone/>
            </a:pPr>
            <a:r>
              <a:rPr lang="en-US" sz="3600" b="1" dirty="0">
                <a:solidFill>
                  <a:srgbClr val="1E2761"/>
                </a:solidFill>
                <a:latin typeface="Cambria" pitchFamily="34" charset="0"/>
                <a:ea typeface="Cambria" pitchFamily="34" charset="-122"/>
                <a:cs typeface="Cambria" pitchFamily="34" charset="-120"/>
              </a:rPr>
              <a:t>What Each Metric Means</a:t>
            </a:r>
            <a:endParaRPr lang="en-US" sz="3600" dirty="0"/>
          </a:p>
        </p:txBody>
      </p:sp>
      <p:sp>
        <p:nvSpPr>
          <p:cNvPr id="4" name="Text 2"/>
          <p:cNvSpPr/>
          <p:nvPr/>
        </p:nvSpPr>
        <p:spPr>
          <a:xfrm>
            <a:off x="11475720" y="6510528"/>
            <a:ext cx="502920" cy="237744"/>
          </a:xfrm>
          <a:prstGeom prst="rect">
            <a:avLst/>
          </a:prstGeom>
          <a:noFill/>
          <a:ln/>
        </p:spPr>
        <p:txBody>
          <a:bodyPr wrap="square" lIns="0" tIns="0" rIns="0" bIns="0" rtlCol="0" anchor="ctr"/>
          <a:lstStyle/>
          <a:p>
            <a:pPr algn="r" indent="0" marL="0">
              <a:buNone/>
            </a:pPr>
            <a:r>
              <a:rPr lang="en-US" sz="900" dirty="0">
                <a:solidFill>
                  <a:srgbClr val="7C88A6"/>
                </a:solidFill>
                <a:latin typeface="Calibri" pitchFamily="34" charset="0"/>
                <a:ea typeface="Calibri" pitchFamily="34" charset="-122"/>
                <a:cs typeface="Calibri" pitchFamily="34" charset="-120"/>
              </a:rPr>
              <a:t>6</a:t>
            </a:r>
            <a:endParaRPr lang="en-US" sz="900" dirty="0"/>
          </a:p>
        </p:txBody>
      </p:sp>
      <p:sp>
        <p:nvSpPr>
          <p:cNvPr id="5" name="Shape 3"/>
          <p:cNvSpPr/>
          <p:nvPr/>
        </p:nvSpPr>
        <p:spPr>
          <a:xfrm>
            <a:off x="457200" y="1280160"/>
            <a:ext cx="5486400" cy="4297680"/>
          </a:xfrm>
          <a:prstGeom prst="roundRect">
            <a:avLst>
              <a:gd name="adj" fmla="val 1489"/>
            </a:avLst>
          </a:prstGeom>
          <a:solidFill>
            <a:srgbClr val="EEF3FB"/>
          </a:solidFill>
          <a:ln/>
        </p:spPr>
      </p:sp>
      <p:sp>
        <p:nvSpPr>
          <p:cNvPr id="6" name="Shape 4"/>
          <p:cNvSpPr/>
          <p:nvPr/>
        </p:nvSpPr>
        <p:spPr>
          <a:xfrm>
            <a:off x="713232" y="1481328"/>
            <a:ext cx="384048" cy="384048"/>
          </a:xfrm>
          <a:prstGeom prst="ellipse">
            <a:avLst/>
          </a:prstGeom>
          <a:solidFill>
            <a:srgbClr val="CADCFC"/>
          </a:solidFill>
          <a:ln/>
        </p:spPr>
      </p:sp>
      <p:pic>
        <p:nvPicPr>
          <p:cNvPr id="7" name="Image 0" descr="/home/claude/icons/search.png">    </p:cNvPr>
          <p:cNvPicPr>
            <a:picLocks noChangeAspect="1"/>
          </p:cNvPicPr>
          <p:nvPr/>
        </p:nvPicPr>
        <p:blipFill>
          <a:blip r:embed="rId1"/>
          <a:stretch>
            <a:fillRect/>
          </a:stretch>
        </p:blipFill>
        <p:spPr>
          <a:xfrm>
            <a:off x="813084" y="1581180"/>
            <a:ext cx="184343" cy="184343"/>
          </a:xfrm>
          <a:prstGeom prst="rect">
            <a:avLst/>
          </a:prstGeom>
        </p:spPr>
      </p:pic>
      <p:sp>
        <p:nvSpPr>
          <p:cNvPr id="8" name="Text 5"/>
          <p:cNvSpPr/>
          <p:nvPr/>
        </p:nvSpPr>
        <p:spPr>
          <a:xfrm>
            <a:off x="1225296" y="1517904"/>
            <a:ext cx="4480560" cy="310896"/>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Retrieval  </a:t>
            </a:r>
            <a:pPr indent="0" marL="0">
              <a:buNone/>
            </a:pPr>
            <a:r>
              <a:rPr lang="en-US" sz="1100" i="1" dirty="0">
                <a:solidFill>
                  <a:srgbClr val="7C88A6"/>
                </a:solidFill>
                <a:latin typeface="Calibri" pitchFamily="34" charset="0"/>
                <a:ea typeface="Calibri" pitchFamily="34" charset="-122"/>
                <a:cs typeface="Calibri" pitchFamily="34" charset="-120"/>
              </a:rPr>
              <a:t>(deterministic)</a:t>
            </a:r>
            <a:endParaRPr lang="en-US" sz="1500" dirty="0"/>
          </a:p>
        </p:txBody>
      </p:sp>
      <p:sp>
        <p:nvSpPr>
          <p:cNvPr id="9" name="Text 6"/>
          <p:cNvSpPr/>
          <p:nvPr/>
        </p:nvSpPr>
        <p:spPr>
          <a:xfrm>
            <a:off x="749808" y="2048256"/>
            <a:ext cx="4937760" cy="822960"/>
          </a:xfrm>
          <a:prstGeom prst="rect">
            <a:avLst/>
          </a:prstGeom>
          <a:noFill/>
          <a:ln/>
        </p:spPr>
        <p:txBody>
          <a:bodyPr wrap="square" lIns="0" tIns="0" rIns="0" bIns="0" rtlCol="0" anchor="ctr"/>
          <a:lstStyle/>
          <a:p>
            <a:pPr indent="0" marL="0">
              <a:lnSpc>
                <a:spcPct val="108000"/>
              </a:lnSpc>
              <a:buNone/>
            </a:pPr>
            <a:r>
              <a:rPr lang="en-US" sz="1150" b="1" dirty="0">
                <a:solidFill>
                  <a:srgbClr val="1E2761"/>
                </a:solidFill>
                <a:latin typeface="Calibri" pitchFamily="34" charset="0"/>
                <a:ea typeface="Calibri" pitchFamily="34" charset="-122"/>
                <a:cs typeface="Calibri" pitchFamily="34" charset="-120"/>
              </a:rPr>
              <a:t>Hit Rate@5  ·  </a:t>
            </a:r>
            <a:pPr indent="0" marL="0">
              <a:lnSpc>
                <a:spcPct val="108000"/>
              </a:lnSpc>
              <a:buNone/>
            </a:pPr>
            <a:r>
              <a:rPr lang="en-US" sz="1150" dirty="0">
                <a:solidFill>
                  <a:srgbClr val="3A4560"/>
                </a:solidFill>
                <a:latin typeface="Calibri" pitchFamily="34" charset="0"/>
                <a:ea typeface="Calibri" pitchFamily="34" charset="-122"/>
                <a:cs typeface="Calibri" pitchFamily="34" charset="-120"/>
              </a:rPr>
              <a:t>share of questions where a known-correct chunk appears in the top 5 — is the right lecture even findable?</a:t>
            </a:r>
            <a:endParaRPr lang="en-US" sz="1150" dirty="0"/>
          </a:p>
        </p:txBody>
      </p:sp>
      <p:sp>
        <p:nvSpPr>
          <p:cNvPr id="10" name="Text 7"/>
          <p:cNvSpPr/>
          <p:nvPr/>
        </p:nvSpPr>
        <p:spPr>
          <a:xfrm>
            <a:off x="749808" y="2916936"/>
            <a:ext cx="4937760" cy="822960"/>
          </a:xfrm>
          <a:prstGeom prst="rect">
            <a:avLst/>
          </a:prstGeom>
          <a:noFill/>
          <a:ln/>
        </p:spPr>
        <p:txBody>
          <a:bodyPr wrap="square" lIns="0" tIns="0" rIns="0" bIns="0" rtlCol="0" anchor="ctr"/>
          <a:lstStyle/>
          <a:p>
            <a:pPr indent="0" marL="0">
              <a:lnSpc>
                <a:spcPct val="108000"/>
              </a:lnSpc>
              <a:buNone/>
            </a:pPr>
            <a:r>
              <a:rPr lang="en-US" sz="1150" b="1" dirty="0">
                <a:solidFill>
                  <a:srgbClr val="1E2761"/>
                </a:solidFill>
                <a:latin typeface="Calibri" pitchFamily="34" charset="0"/>
                <a:ea typeface="Calibri" pitchFamily="34" charset="-122"/>
                <a:cs typeface="Calibri" pitchFamily="34" charset="-120"/>
              </a:rPr>
              <a:t>MRR  ·  </a:t>
            </a:r>
            <a:pPr indent="0" marL="0">
              <a:lnSpc>
                <a:spcPct val="108000"/>
              </a:lnSpc>
              <a:buNone/>
            </a:pPr>
            <a:r>
              <a:rPr lang="en-US" sz="1150" dirty="0">
                <a:solidFill>
                  <a:srgbClr val="3A4560"/>
                </a:solidFill>
                <a:latin typeface="Calibri" pitchFamily="34" charset="0"/>
                <a:ea typeface="Calibri" pitchFamily="34" charset="-122"/>
                <a:cs typeface="Calibri" pitchFamily="34" charset="-120"/>
              </a:rPr>
              <a:t>mean of 1/rank of the first correct chunk — how high does the right content rank, on average?</a:t>
            </a:r>
            <a:endParaRPr lang="en-US" sz="1150" dirty="0"/>
          </a:p>
        </p:txBody>
      </p:sp>
      <p:sp>
        <p:nvSpPr>
          <p:cNvPr id="11" name="Text 8"/>
          <p:cNvSpPr/>
          <p:nvPr/>
        </p:nvSpPr>
        <p:spPr>
          <a:xfrm>
            <a:off x="749808" y="3785616"/>
            <a:ext cx="4937760" cy="822960"/>
          </a:xfrm>
          <a:prstGeom prst="rect">
            <a:avLst/>
          </a:prstGeom>
          <a:noFill/>
          <a:ln/>
        </p:spPr>
        <p:txBody>
          <a:bodyPr wrap="square" lIns="0" tIns="0" rIns="0" bIns="0" rtlCol="0" anchor="ctr"/>
          <a:lstStyle/>
          <a:p>
            <a:pPr indent="0" marL="0">
              <a:lnSpc>
                <a:spcPct val="108000"/>
              </a:lnSpc>
              <a:buNone/>
            </a:pPr>
            <a:r>
              <a:rPr lang="en-US" sz="1150" b="1" dirty="0">
                <a:solidFill>
                  <a:srgbClr val="1E2761"/>
                </a:solidFill>
                <a:latin typeface="Calibri" pitchFamily="34" charset="0"/>
                <a:ea typeface="Calibri" pitchFamily="34" charset="-122"/>
                <a:cs typeface="Calibri" pitchFamily="34" charset="-120"/>
              </a:rPr>
              <a:t>Precision@5  ·  </a:t>
            </a:r>
            <a:pPr indent="0" marL="0">
              <a:lnSpc>
                <a:spcPct val="108000"/>
              </a:lnSpc>
              <a:buNone/>
            </a:pPr>
            <a:r>
              <a:rPr lang="en-US" sz="1150" dirty="0">
                <a:solidFill>
                  <a:srgbClr val="3A4560"/>
                </a:solidFill>
                <a:latin typeface="Calibri" pitchFamily="34" charset="0"/>
                <a:ea typeface="Calibri" pitchFamily="34" charset="-122"/>
                <a:cs typeface="Calibri" pitchFamily="34" charset="-120"/>
              </a:rPr>
              <a:t>average share of the top 5 that is actually relevant — how much noise rides along with a hit?</a:t>
            </a:r>
            <a:endParaRPr lang="en-US" sz="1150" dirty="0"/>
          </a:p>
        </p:txBody>
      </p:sp>
      <p:sp>
        <p:nvSpPr>
          <p:cNvPr id="12" name="Text 9"/>
          <p:cNvSpPr/>
          <p:nvPr/>
        </p:nvSpPr>
        <p:spPr>
          <a:xfrm>
            <a:off x="749808" y="4654296"/>
            <a:ext cx="4937760" cy="822960"/>
          </a:xfrm>
          <a:prstGeom prst="rect">
            <a:avLst/>
          </a:prstGeom>
          <a:noFill/>
          <a:ln/>
        </p:spPr>
        <p:txBody>
          <a:bodyPr wrap="square" lIns="0" tIns="0" rIns="0" bIns="0" rtlCol="0" anchor="ctr"/>
          <a:lstStyle/>
          <a:p>
            <a:pPr indent="0" marL="0">
              <a:lnSpc>
                <a:spcPct val="108000"/>
              </a:lnSpc>
              <a:buNone/>
            </a:pPr>
            <a:r>
              <a:rPr lang="en-US" sz="1150" b="1" dirty="0">
                <a:solidFill>
                  <a:srgbClr val="1E2761"/>
                </a:solidFill>
                <a:latin typeface="Calibri" pitchFamily="34" charset="0"/>
                <a:ea typeface="Calibri" pitchFamily="34" charset="-122"/>
                <a:cs typeface="Calibri" pitchFamily="34" charset="-120"/>
              </a:rPr>
              <a:t>Scope-gate accuracy  ·  </a:t>
            </a:r>
            <a:pPr indent="0" marL="0">
              <a:lnSpc>
                <a:spcPct val="108000"/>
              </a:lnSpc>
              <a:buNone/>
            </a:pPr>
            <a:r>
              <a:rPr lang="en-US" sz="1150" dirty="0">
                <a:solidFill>
                  <a:srgbClr val="3A4560"/>
                </a:solidFill>
                <a:latin typeface="Calibri" pitchFamily="34" charset="0"/>
                <a:ea typeface="Calibri" pitchFamily="34" charset="-122"/>
                <a:cs typeface="Calibri" pitchFamily="34" charset="-120"/>
              </a:rPr>
              <a:t>in-scope and out-of-scope questions correctly accepted / rejected by the 0.3 relevance cutoff.</a:t>
            </a:r>
            <a:endParaRPr lang="en-US" sz="1150" dirty="0"/>
          </a:p>
        </p:txBody>
      </p:sp>
      <p:sp>
        <p:nvSpPr>
          <p:cNvPr id="13" name="Shape 10"/>
          <p:cNvSpPr/>
          <p:nvPr/>
        </p:nvSpPr>
        <p:spPr>
          <a:xfrm>
            <a:off x="6263640" y="1280160"/>
            <a:ext cx="5468112" cy="4297680"/>
          </a:xfrm>
          <a:prstGeom prst="roundRect">
            <a:avLst>
              <a:gd name="adj" fmla="val 1489"/>
            </a:avLst>
          </a:prstGeom>
          <a:solidFill>
            <a:srgbClr val="EEF3FB"/>
          </a:solidFill>
          <a:ln/>
        </p:spPr>
      </p:sp>
      <p:sp>
        <p:nvSpPr>
          <p:cNvPr id="14" name="Shape 11"/>
          <p:cNvSpPr/>
          <p:nvPr/>
        </p:nvSpPr>
        <p:spPr>
          <a:xfrm>
            <a:off x="6519672" y="1481328"/>
            <a:ext cx="384048" cy="384048"/>
          </a:xfrm>
          <a:prstGeom prst="ellipse">
            <a:avLst/>
          </a:prstGeom>
          <a:solidFill>
            <a:srgbClr val="CADCFC"/>
          </a:solidFill>
          <a:ln/>
        </p:spPr>
      </p:sp>
      <p:pic>
        <p:nvPicPr>
          <p:cNvPr id="15" name="Image 1" descr="/home/claude/icons/cpu.png">    </p:cNvPr>
          <p:cNvPicPr>
            <a:picLocks noChangeAspect="1"/>
          </p:cNvPicPr>
          <p:nvPr/>
        </p:nvPicPr>
        <p:blipFill>
          <a:blip r:embed="rId2"/>
          <a:stretch>
            <a:fillRect/>
          </a:stretch>
        </p:blipFill>
        <p:spPr>
          <a:xfrm>
            <a:off x="6619524" y="1581180"/>
            <a:ext cx="184343" cy="184343"/>
          </a:xfrm>
          <a:prstGeom prst="rect">
            <a:avLst/>
          </a:prstGeom>
        </p:spPr>
      </p:pic>
      <p:sp>
        <p:nvSpPr>
          <p:cNvPr id="16" name="Text 12"/>
          <p:cNvSpPr/>
          <p:nvPr/>
        </p:nvSpPr>
        <p:spPr>
          <a:xfrm>
            <a:off x="7031736" y="1517904"/>
            <a:ext cx="4572000" cy="310896"/>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Generation quality &amp; speed</a:t>
            </a:r>
            <a:endParaRPr lang="en-US" sz="1500" dirty="0"/>
          </a:p>
        </p:txBody>
      </p:sp>
      <p:sp>
        <p:nvSpPr>
          <p:cNvPr id="17" name="Text 13"/>
          <p:cNvSpPr/>
          <p:nvPr/>
        </p:nvSpPr>
        <p:spPr>
          <a:xfrm>
            <a:off x="6556248" y="2048256"/>
            <a:ext cx="4892040" cy="676656"/>
          </a:xfrm>
          <a:prstGeom prst="rect">
            <a:avLst/>
          </a:prstGeom>
          <a:noFill/>
          <a:ln/>
        </p:spPr>
        <p:txBody>
          <a:bodyPr wrap="square" lIns="0" tIns="0" rIns="0" bIns="0" rtlCol="0" anchor="ctr"/>
          <a:lstStyle/>
          <a:p>
            <a:pPr indent="0" marL="0">
              <a:lnSpc>
                <a:spcPct val="106000"/>
              </a:lnSpc>
              <a:buNone/>
            </a:pPr>
            <a:r>
              <a:rPr lang="en-US" sz="1100" b="1" dirty="0">
                <a:solidFill>
                  <a:srgbClr val="1E2761"/>
                </a:solidFill>
                <a:latin typeface="Calibri" pitchFamily="34" charset="0"/>
                <a:ea typeface="Calibri" pitchFamily="34" charset="-122"/>
                <a:cs typeface="Calibri" pitchFamily="34" charset="-120"/>
              </a:rPr>
              <a:t>Faithfulness </a:t>
            </a:r>
            <a:pPr indent="0" marL="0">
              <a:lnSpc>
                <a:spcPct val="106000"/>
              </a:lnSpc>
              <a:buNone/>
            </a:pPr>
            <a:r>
              <a:rPr lang="en-US" sz="1000" i="1" dirty="0">
                <a:solidFill>
                  <a:srgbClr val="7C88A6"/>
                </a:solidFill>
                <a:latin typeface="Calibri" pitchFamily="34" charset="0"/>
                <a:ea typeface="Calibri" pitchFamily="34" charset="-122"/>
                <a:cs typeface="Calibri" pitchFamily="34" charset="-120"/>
              </a:rPr>
              <a:t>(LLM-judged)  ·  </a:t>
            </a:r>
            <a:pPr indent="0" marL="0">
              <a:lnSpc>
                <a:spcPct val="106000"/>
              </a:lnSpc>
              <a:buNone/>
            </a:pPr>
            <a:r>
              <a:rPr lang="en-US" sz="1100" dirty="0">
                <a:solidFill>
                  <a:srgbClr val="3A4560"/>
                </a:solidFill>
                <a:latin typeface="Calibri" pitchFamily="34" charset="0"/>
                <a:ea typeface="Calibri" pitchFamily="34" charset="-122"/>
                <a:cs typeface="Calibri" pitchFamily="34" charset="-120"/>
              </a:rPr>
              <a:t>the answer is split into atomic claims; each is checked against the retrieved context — is anything invented?</a:t>
            </a:r>
            <a:endParaRPr lang="en-US" sz="1100" dirty="0"/>
          </a:p>
        </p:txBody>
      </p:sp>
      <p:sp>
        <p:nvSpPr>
          <p:cNvPr id="18" name="Text 14"/>
          <p:cNvSpPr/>
          <p:nvPr/>
        </p:nvSpPr>
        <p:spPr>
          <a:xfrm>
            <a:off x="6556248" y="2761488"/>
            <a:ext cx="4892040" cy="676656"/>
          </a:xfrm>
          <a:prstGeom prst="rect">
            <a:avLst/>
          </a:prstGeom>
          <a:noFill/>
          <a:ln/>
        </p:spPr>
        <p:txBody>
          <a:bodyPr wrap="square" lIns="0" tIns="0" rIns="0" bIns="0" rtlCol="0" anchor="ctr"/>
          <a:lstStyle/>
          <a:p>
            <a:pPr indent="0" marL="0">
              <a:lnSpc>
                <a:spcPct val="106000"/>
              </a:lnSpc>
              <a:buNone/>
            </a:pPr>
            <a:r>
              <a:rPr lang="en-US" sz="1100" b="1" dirty="0">
                <a:solidFill>
                  <a:srgbClr val="1E2761"/>
                </a:solidFill>
                <a:latin typeface="Calibri" pitchFamily="34" charset="0"/>
                <a:ea typeface="Calibri" pitchFamily="34" charset="-122"/>
                <a:cs typeface="Calibri" pitchFamily="34" charset="-120"/>
              </a:rPr>
              <a:t>Answer relevancy </a:t>
            </a:r>
            <a:pPr indent="0" marL="0">
              <a:lnSpc>
                <a:spcPct val="106000"/>
              </a:lnSpc>
              <a:buNone/>
            </a:pPr>
            <a:r>
              <a:rPr lang="en-US" sz="1000" i="1" dirty="0">
                <a:solidFill>
                  <a:srgbClr val="7C88A6"/>
                </a:solidFill>
                <a:latin typeface="Calibri" pitchFamily="34" charset="0"/>
                <a:ea typeface="Calibri" pitchFamily="34" charset="-122"/>
                <a:cs typeface="Calibri" pitchFamily="34" charset="-120"/>
              </a:rPr>
              <a:t>(LLM-judged)  ·  </a:t>
            </a:r>
            <a:pPr indent="0" marL="0">
              <a:lnSpc>
                <a:spcPct val="106000"/>
              </a:lnSpc>
              <a:buNone/>
            </a:pPr>
            <a:r>
              <a:rPr lang="en-US" sz="1100" dirty="0">
                <a:solidFill>
                  <a:srgbClr val="3A4560"/>
                </a:solidFill>
                <a:latin typeface="Calibri" pitchFamily="34" charset="0"/>
                <a:ea typeface="Calibri" pitchFamily="34" charset="-122"/>
                <a:cs typeface="Calibri" pitchFamily="34" charset="-120"/>
              </a:rPr>
              <a:t>0–1 score for how directly and completely the answer addresses the question.</a:t>
            </a:r>
            <a:endParaRPr lang="en-US" sz="1100" dirty="0"/>
          </a:p>
        </p:txBody>
      </p:sp>
      <p:sp>
        <p:nvSpPr>
          <p:cNvPr id="19" name="Text 15"/>
          <p:cNvSpPr/>
          <p:nvPr/>
        </p:nvSpPr>
        <p:spPr>
          <a:xfrm>
            <a:off x="6556248" y="3474720"/>
            <a:ext cx="4892040" cy="676656"/>
          </a:xfrm>
          <a:prstGeom prst="rect">
            <a:avLst/>
          </a:prstGeom>
          <a:noFill/>
          <a:ln/>
        </p:spPr>
        <p:txBody>
          <a:bodyPr wrap="square" lIns="0" tIns="0" rIns="0" bIns="0" rtlCol="0" anchor="ctr"/>
          <a:lstStyle/>
          <a:p>
            <a:pPr indent="0" marL="0">
              <a:lnSpc>
                <a:spcPct val="106000"/>
              </a:lnSpc>
              <a:buNone/>
            </a:pPr>
            <a:r>
              <a:rPr lang="en-US" sz="1100" b="1" dirty="0">
                <a:solidFill>
                  <a:srgbClr val="1E2761"/>
                </a:solidFill>
                <a:latin typeface="Calibri" pitchFamily="34" charset="0"/>
                <a:ea typeface="Calibri" pitchFamily="34" charset="-122"/>
                <a:cs typeface="Calibri" pitchFamily="34" charset="-120"/>
              </a:rPr>
              <a:t>Context precision </a:t>
            </a:r>
            <a:pPr indent="0" marL="0">
              <a:lnSpc>
                <a:spcPct val="106000"/>
              </a:lnSpc>
              <a:buNone/>
            </a:pPr>
            <a:r>
              <a:rPr lang="en-US" sz="1000" i="1" dirty="0">
                <a:solidFill>
                  <a:srgbClr val="7C88A6"/>
                </a:solidFill>
                <a:latin typeface="Calibri" pitchFamily="34" charset="0"/>
                <a:ea typeface="Calibri" pitchFamily="34" charset="-122"/>
                <a:cs typeface="Calibri" pitchFamily="34" charset="-120"/>
              </a:rPr>
              <a:t>(LLM-judged)  ·  </a:t>
            </a:r>
            <a:pPr indent="0" marL="0">
              <a:lnSpc>
                <a:spcPct val="106000"/>
              </a:lnSpc>
              <a:buNone/>
            </a:pPr>
            <a:r>
              <a:rPr lang="en-US" sz="1100" dirty="0">
                <a:solidFill>
                  <a:srgbClr val="3A4560"/>
                </a:solidFill>
                <a:latin typeface="Calibri" pitchFamily="34" charset="0"/>
                <a:ea typeface="Calibri" pitchFamily="34" charset="-122"/>
                <a:cs typeface="Calibri" pitchFamily="34" charset="-120"/>
              </a:rPr>
              <a:t>each retrieved chunk is marked relevant / irrelevant — of what was retrieved, how much was useful?</a:t>
            </a:r>
            <a:endParaRPr lang="en-US" sz="1100" dirty="0"/>
          </a:p>
        </p:txBody>
      </p:sp>
      <p:sp>
        <p:nvSpPr>
          <p:cNvPr id="20" name="Text 16"/>
          <p:cNvSpPr/>
          <p:nvPr/>
        </p:nvSpPr>
        <p:spPr>
          <a:xfrm>
            <a:off x="6556248" y="4187952"/>
            <a:ext cx="4892040" cy="676656"/>
          </a:xfrm>
          <a:prstGeom prst="rect">
            <a:avLst/>
          </a:prstGeom>
          <a:noFill/>
          <a:ln/>
        </p:spPr>
        <p:txBody>
          <a:bodyPr wrap="square" lIns="0" tIns="0" rIns="0" bIns="0" rtlCol="0" anchor="ctr"/>
          <a:lstStyle/>
          <a:p>
            <a:pPr indent="0" marL="0">
              <a:lnSpc>
                <a:spcPct val="106000"/>
              </a:lnSpc>
              <a:buNone/>
            </a:pPr>
            <a:r>
              <a:rPr lang="en-US" sz="1100" b="1" dirty="0">
                <a:solidFill>
                  <a:srgbClr val="1E2761"/>
                </a:solidFill>
                <a:latin typeface="Calibri" pitchFamily="34" charset="0"/>
                <a:ea typeface="Calibri" pitchFamily="34" charset="-122"/>
                <a:cs typeface="Calibri" pitchFamily="34" charset="-120"/>
              </a:rPr>
              <a:t>Context recall </a:t>
            </a:r>
            <a:pPr indent="0" marL="0">
              <a:lnSpc>
                <a:spcPct val="106000"/>
              </a:lnSpc>
              <a:buNone/>
            </a:pPr>
            <a:r>
              <a:rPr lang="en-US" sz="1000" i="1" dirty="0">
                <a:solidFill>
                  <a:srgbClr val="7C88A6"/>
                </a:solidFill>
                <a:latin typeface="Calibri" pitchFamily="34" charset="0"/>
                <a:ea typeface="Calibri" pitchFamily="34" charset="-122"/>
                <a:cs typeface="Calibri" pitchFamily="34" charset="-120"/>
              </a:rPr>
              <a:t>(keyword proxy)  ·  </a:t>
            </a:r>
            <a:pPr indent="0" marL="0">
              <a:lnSpc>
                <a:spcPct val="106000"/>
              </a:lnSpc>
              <a:buNone/>
            </a:pPr>
            <a:r>
              <a:rPr lang="en-US" sz="1100" dirty="0">
                <a:solidFill>
                  <a:srgbClr val="3A4560"/>
                </a:solidFill>
                <a:latin typeface="Calibri" pitchFamily="34" charset="0"/>
                <a:ea typeface="Calibri" pitchFamily="34" charset="-122"/>
                <a:cs typeface="Calibri" pitchFamily="34" charset="-120"/>
              </a:rPr>
              <a:t>share of expected topical keywords found anywhere in the retrieved context — needs no gold answers.</a:t>
            </a:r>
            <a:endParaRPr lang="en-US" sz="1100" dirty="0"/>
          </a:p>
        </p:txBody>
      </p:sp>
      <p:sp>
        <p:nvSpPr>
          <p:cNvPr id="21" name="Text 17"/>
          <p:cNvSpPr/>
          <p:nvPr/>
        </p:nvSpPr>
        <p:spPr>
          <a:xfrm>
            <a:off x="6556248" y="4901184"/>
            <a:ext cx="4892040" cy="676656"/>
          </a:xfrm>
          <a:prstGeom prst="rect">
            <a:avLst/>
          </a:prstGeom>
          <a:noFill/>
          <a:ln/>
        </p:spPr>
        <p:txBody>
          <a:bodyPr wrap="square" lIns="0" tIns="0" rIns="0" bIns="0" rtlCol="0" anchor="ctr"/>
          <a:lstStyle/>
          <a:p>
            <a:pPr indent="0" marL="0">
              <a:lnSpc>
                <a:spcPct val="106000"/>
              </a:lnSpc>
              <a:buNone/>
            </a:pPr>
            <a:r>
              <a:rPr lang="en-US" sz="1100" b="1" dirty="0">
                <a:solidFill>
                  <a:srgbClr val="1E2761"/>
                </a:solidFill>
                <a:latin typeface="Calibri" pitchFamily="34" charset="0"/>
                <a:ea typeface="Calibri" pitchFamily="34" charset="-122"/>
                <a:cs typeface="Calibri" pitchFamily="34" charset="-120"/>
              </a:rPr>
              <a:t>Latency </a:t>
            </a:r>
            <a:pPr indent="0" marL="0">
              <a:lnSpc>
                <a:spcPct val="106000"/>
              </a:lnSpc>
              <a:buNone/>
            </a:pPr>
            <a:r>
              <a:rPr lang="en-US" sz="1000" i="1" dirty="0">
                <a:solidFill>
                  <a:srgbClr val="7C88A6"/>
                </a:solidFill>
                <a:latin typeface="Calibri" pitchFamily="34" charset="0"/>
                <a:ea typeface="Calibri" pitchFamily="34" charset="-122"/>
                <a:cs typeface="Calibri" pitchFamily="34" charset="-120"/>
              </a:rPr>
              <a:t>(measured)  ·  </a:t>
            </a:r>
            <a:pPr indent="0" marL="0">
              <a:lnSpc>
                <a:spcPct val="106000"/>
              </a:lnSpc>
              <a:buNone/>
            </a:pPr>
            <a:r>
              <a:rPr lang="en-US" sz="1100" dirty="0">
                <a:solidFill>
                  <a:srgbClr val="3A4560"/>
                </a:solidFill>
                <a:latin typeface="Calibri" pitchFamily="34" charset="0"/>
                <a:ea typeface="Calibri" pitchFamily="34" charset="-122"/>
                <a:cs typeface="Calibri" pitchFamily="34" charset="-120"/>
              </a:rPr>
              <a:t>wall-clock retrieval and generation time — mean / median / p95.</a:t>
            </a:r>
            <a:endParaRPr lang="en-US" sz="1100" dirty="0"/>
          </a:p>
        </p:txBody>
      </p:sp>
      <p:sp>
        <p:nvSpPr>
          <p:cNvPr id="22" name="Shape 18"/>
          <p:cNvSpPr/>
          <p:nvPr/>
        </p:nvSpPr>
        <p:spPr>
          <a:xfrm>
            <a:off x="457200" y="5760720"/>
            <a:ext cx="11274552" cy="685800"/>
          </a:xfrm>
          <a:prstGeom prst="roundRect">
            <a:avLst>
              <a:gd name="adj" fmla="val 9333"/>
            </a:avLst>
          </a:prstGeom>
          <a:solidFill>
            <a:srgbClr val="FBEAD3"/>
          </a:solidFill>
          <a:ln/>
        </p:spPr>
      </p:sp>
      <p:sp>
        <p:nvSpPr>
          <p:cNvPr id="23" name="Shape 19"/>
          <p:cNvSpPr/>
          <p:nvPr/>
        </p:nvSpPr>
        <p:spPr>
          <a:xfrm>
            <a:off x="658368" y="5916168"/>
            <a:ext cx="365760" cy="365760"/>
          </a:xfrm>
          <a:prstGeom prst="ellipse">
            <a:avLst/>
          </a:prstGeom>
          <a:solidFill>
            <a:srgbClr val="FFFFFF"/>
          </a:solidFill>
          <a:ln/>
        </p:spPr>
      </p:sp>
      <p:pic>
        <p:nvPicPr>
          <p:cNvPr id="24" name="Image 2" descr="/home/claude/icons/eye.png">    </p:cNvPr>
          <p:cNvPicPr>
            <a:picLocks noChangeAspect="1"/>
          </p:cNvPicPr>
          <p:nvPr/>
        </p:nvPicPr>
        <p:blipFill>
          <a:blip r:embed="rId3"/>
          <a:stretch>
            <a:fillRect/>
          </a:stretch>
        </p:blipFill>
        <p:spPr>
          <a:xfrm>
            <a:off x="753466" y="6011266"/>
            <a:ext cx="175565" cy="175565"/>
          </a:xfrm>
          <a:prstGeom prst="rect">
            <a:avLst/>
          </a:prstGeom>
        </p:spPr>
      </p:pic>
      <p:sp>
        <p:nvSpPr>
          <p:cNvPr id="25" name="Text 20"/>
          <p:cNvSpPr/>
          <p:nvPr/>
        </p:nvSpPr>
        <p:spPr>
          <a:xfrm>
            <a:off x="1188720" y="5760720"/>
            <a:ext cx="10424160" cy="685800"/>
          </a:xfrm>
          <a:prstGeom prst="rect">
            <a:avLst/>
          </a:prstGeom>
          <a:noFill/>
          <a:ln/>
        </p:spPr>
        <p:txBody>
          <a:bodyPr wrap="square" lIns="0" tIns="0" rIns="0" bIns="0" rtlCol="0" anchor="ctr"/>
          <a:lstStyle/>
          <a:p>
            <a:pPr indent="0" marL="0">
              <a:buNone/>
            </a:pPr>
            <a:r>
              <a:rPr lang="en-US" sz="1150" b="1" dirty="0">
                <a:solidFill>
                  <a:srgbClr val="B45309"/>
                </a:solidFill>
                <a:latin typeface="Calibri" pitchFamily="34" charset="0"/>
                <a:ea typeface="Calibri" pitchFamily="34" charset="-122"/>
                <a:cs typeface="Calibri" pitchFamily="34" charset="-120"/>
              </a:rPr>
              <a:t>Judge ≠ generator:  </a:t>
            </a:r>
            <a:pPr indent="0" marL="0">
              <a:buNone/>
            </a:pPr>
            <a:r>
              <a:rPr lang="en-US" sz="1150" dirty="0">
                <a:solidFill>
                  <a:srgbClr val="8A5A20"/>
                </a:solidFill>
                <a:latin typeface="Calibri" pitchFamily="34" charset="0"/>
                <a:ea typeface="Calibri" pitchFamily="34" charset="-122"/>
                <a:cs typeface="Calibri" pitchFamily="34" charset="-120"/>
              </a:rPr>
              <a:t>scoring is done by openai/gpt-oss-20b — deliberately a different model from the llama-3.3-70b generator — to reduce self-grading bias.</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5486400" cy="219456"/>
          </a:xfrm>
          <a:prstGeom prst="rect">
            <a:avLst/>
          </a:prstGeom>
          <a:noFill/>
          <a:ln/>
        </p:spPr>
        <p:txBody>
          <a:bodyPr wrap="square" lIns="0" tIns="0" rIns="0" bIns="0" rtlCol="0" anchor="ctr"/>
          <a:lstStyle/>
          <a:p>
            <a:pPr indent="0" marL="0">
              <a:buNone/>
            </a:pPr>
            <a:r>
              <a:rPr lang="en-US" sz="950" b="1" spc="300" kern="0" dirty="0">
                <a:solidFill>
                  <a:srgbClr val="7C88A6"/>
                </a:solidFill>
                <a:latin typeface="Calibri" pitchFamily="34" charset="0"/>
                <a:ea typeface="Calibri" pitchFamily="34" charset="-122"/>
                <a:cs typeface="Calibri" pitchFamily="34" charset="-120"/>
              </a:rPr>
              <a:t>LECTUREBANK RAG CHATBOT</a:t>
            </a:r>
            <a:endParaRPr lang="en-US" sz="950" dirty="0"/>
          </a:p>
        </p:txBody>
      </p:sp>
      <p:sp>
        <p:nvSpPr>
          <p:cNvPr id="3" name="Text 1"/>
          <p:cNvSpPr/>
          <p:nvPr/>
        </p:nvSpPr>
        <p:spPr>
          <a:xfrm>
            <a:off x="457200" y="512064"/>
            <a:ext cx="11247120" cy="621792"/>
          </a:xfrm>
          <a:prstGeom prst="rect">
            <a:avLst/>
          </a:prstGeom>
          <a:noFill/>
          <a:ln/>
        </p:spPr>
        <p:txBody>
          <a:bodyPr wrap="square" lIns="0" tIns="0" rIns="0" bIns="0" rtlCol="0" anchor="ctr"/>
          <a:lstStyle/>
          <a:p>
            <a:pPr indent="0" marL="0">
              <a:buNone/>
            </a:pPr>
            <a:r>
              <a:rPr lang="en-US" sz="3600" b="1" dirty="0">
                <a:solidFill>
                  <a:srgbClr val="1E2761"/>
                </a:solidFill>
                <a:latin typeface="Cambria" pitchFamily="34" charset="0"/>
                <a:ea typeface="Cambria" pitchFamily="34" charset="-122"/>
                <a:cs typeface="Cambria" pitchFamily="34" charset="-120"/>
              </a:rPr>
              <a:t>Results — Retrieval Quality</a:t>
            </a:r>
            <a:endParaRPr lang="en-US" sz="3600" dirty="0"/>
          </a:p>
        </p:txBody>
      </p:sp>
      <p:sp>
        <p:nvSpPr>
          <p:cNvPr id="4" name="Text 2"/>
          <p:cNvSpPr/>
          <p:nvPr/>
        </p:nvSpPr>
        <p:spPr>
          <a:xfrm>
            <a:off x="11475720" y="6510528"/>
            <a:ext cx="502920" cy="237744"/>
          </a:xfrm>
          <a:prstGeom prst="rect">
            <a:avLst/>
          </a:prstGeom>
          <a:noFill/>
          <a:ln/>
        </p:spPr>
        <p:txBody>
          <a:bodyPr wrap="square" lIns="0" tIns="0" rIns="0" bIns="0" rtlCol="0" anchor="ctr"/>
          <a:lstStyle/>
          <a:p>
            <a:pPr algn="r" indent="0" marL="0">
              <a:buNone/>
            </a:pPr>
            <a:r>
              <a:rPr lang="en-US" sz="900" dirty="0">
                <a:solidFill>
                  <a:srgbClr val="7C88A6"/>
                </a:solidFill>
                <a:latin typeface="Calibri" pitchFamily="34" charset="0"/>
                <a:ea typeface="Calibri" pitchFamily="34" charset="-122"/>
                <a:cs typeface="Calibri" pitchFamily="34" charset="-120"/>
              </a:rPr>
              <a:t>7</a:t>
            </a:r>
            <a:endParaRPr lang="en-US" sz="900" dirty="0"/>
          </a:p>
        </p:txBody>
      </p:sp>
      <p:sp>
        <p:nvSpPr>
          <p:cNvPr id="5" name="Shape 3"/>
          <p:cNvSpPr/>
          <p:nvPr/>
        </p:nvSpPr>
        <p:spPr>
          <a:xfrm>
            <a:off x="457200" y="1417320"/>
            <a:ext cx="2103120" cy="1783080"/>
          </a:xfrm>
          <a:prstGeom prst="roundRect">
            <a:avLst>
              <a:gd name="adj" fmla="val 3590"/>
            </a:avLst>
          </a:prstGeom>
          <a:solidFill>
            <a:srgbClr val="EEF3FB"/>
          </a:solidFill>
          <a:ln/>
        </p:spPr>
      </p:sp>
      <p:sp>
        <p:nvSpPr>
          <p:cNvPr id="6" name="Text 4"/>
          <p:cNvSpPr/>
          <p:nvPr/>
        </p:nvSpPr>
        <p:spPr>
          <a:xfrm>
            <a:off x="603504" y="1618488"/>
            <a:ext cx="1810512" cy="502920"/>
          </a:xfrm>
          <a:prstGeom prst="rect">
            <a:avLst/>
          </a:prstGeom>
          <a:noFill/>
          <a:ln/>
        </p:spPr>
        <p:txBody>
          <a:bodyPr wrap="square" lIns="0" tIns="0" rIns="0" bIns="0" rtlCol="0" anchor="ctr"/>
          <a:lstStyle/>
          <a:p>
            <a:pPr indent="0" marL="0">
              <a:buNone/>
            </a:pPr>
            <a:r>
              <a:rPr lang="en-US" sz="2900" b="1" dirty="0">
                <a:solidFill>
                  <a:srgbClr val="1E2761"/>
                </a:solidFill>
                <a:latin typeface="Cambria" pitchFamily="34" charset="0"/>
                <a:ea typeface="Cambria" pitchFamily="34" charset="-122"/>
                <a:cs typeface="Cambria" pitchFamily="34" charset="-120"/>
              </a:rPr>
              <a:t>94.4%</a:t>
            </a:r>
            <a:endParaRPr lang="en-US" sz="2900" dirty="0"/>
          </a:p>
        </p:txBody>
      </p:sp>
      <p:sp>
        <p:nvSpPr>
          <p:cNvPr id="7" name="Text 5"/>
          <p:cNvSpPr/>
          <p:nvPr/>
        </p:nvSpPr>
        <p:spPr>
          <a:xfrm>
            <a:off x="603504" y="2221992"/>
            <a:ext cx="1810512" cy="457200"/>
          </a:xfrm>
          <a:prstGeom prst="rect">
            <a:avLst/>
          </a:prstGeom>
          <a:noFill/>
          <a:ln/>
        </p:spPr>
        <p:txBody>
          <a:bodyPr wrap="square" lIns="0" tIns="0" rIns="0" bIns="0" rtlCol="0" anchor="ctr"/>
          <a:lstStyle/>
          <a:p>
            <a:pPr indent="0" marL="0">
              <a:buNone/>
            </a:pPr>
            <a:r>
              <a:rPr lang="en-US" sz="1150" b="1" dirty="0">
                <a:solidFill>
                  <a:srgbClr val="3A4560"/>
                </a:solidFill>
                <a:latin typeface="Calibri" pitchFamily="34" charset="0"/>
                <a:ea typeface="Calibri" pitchFamily="34" charset="-122"/>
                <a:cs typeface="Calibri" pitchFamily="34" charset="-120"/>
              </a:rPr>
              <a:t>Hit Rate@5</a:t>
            </a:r>
            <a:endParaRPr lang="en-US" sz="1150" dirty="0"/>
          </a:p>
        </p:txBody>
      </p:sp>
      <p:sp>
        <p:nvSpPr>
          <p:cNvPr id="8" name="Text 6"/>
          <p:cNvSpPr/>
          <p:nvPr/>
        </p:nvSpPr>
        <p:spPr>
          <a:xfrm>
            <a:off x="603504" y="2715768"/>
            <a:ext cx="1810512" cy="420624"/>
          </a:xfrm>
          <a:prstGeom prst="rect">
            <a:avLst/>
          </a:prstGeom>
          <a:noFill/>
          <a:ln/>
        </p:spPr>
        <p:txBody>
          <a:bodyPr wrap="square" lIns="0" tIns="0" rIns="0" bIns="0" rtlCol="0" anchor="ctr"/>
          <a:lstStyle/>
          <a:p>
            <a:pPr indent="0" marL="0">
              <a:lnSpc>
                <a:spcPct val="102000"/>
              </a:lnSpc>
              <a:buNone/>
            </a:pPr>
            <a:r>
              <a:rPr lang="en-US" sz="900" dirty="0">
                <a:solidFill>
                  <a:srgbClr val="7C88A6"/>
                </a:solidFill>
                <a:latin typeface="Calibri" pitchFamily="34" charset="0"/>
                <a:ea typeface="Calibri" pitchFamily="34" charset="-122"/>
                <a:cs typeface="Calibri" pitchFamily="34" charset="-120"/>
              </a:rPr>
              <a:t>a correct chunk lands in the top 5</a:t>
            </a:r>
            <a:endParaRPr lang="en-US" sz="900" dirty="0"/>
          </a:p>
        </p:txBody>
      </p:sp>
      <p:sp>
        <p:nvSpPr>
          <p:cNvPr id="9" name="Shape 7"/>
          <p:cNvSpPr/>
          <p:nvPr/>
        </p:nvSpPr>
        <p:spPr>
          <a:xfrm>
            <a:off x="2743200" y="1417320"/>
            <a:ext cx="2103120" cy="1783080"/>
          </a:xfrm>
          <a:prstGeom prst="roundRect">
            <a:avLst>
              <a:gd name="adj" fmla="val 3590"/>
            </a:avLst>
          </a:prstGeom>
          <a:solidFill>
            <a:srgbClr val="EEF3FB"/>
          </a:solidFill>
          <a:ln/>
        </p:spPr>
      </p:sp>
      <p:sp>
        <p:nvSpPr>
          <p:cNvPr id="10" name="Text 8"/>
          <p:cNvSpPr/>
          <p:nvPr/>
        </p:nvSpPr>
        <p:spPr>
          <a:xfrm>
            <a:off x="2889504" y="1618488"/>
            <a:ext cx="1810512" cy="502920"/>
          </a:xfrm>
          <a:prstGeom prst="rect">
            <a:avLst/>
          </a:prstGeom>
          <a:noFill/>
          <a:ln/>
        </p:spPr>
        <p:txBody>
          <a:bodyPr wrap="square" lIns="0" tIns="0" rIns="0" bIns="0" rtlCol="0" anchor="ctr"/>
          <a:lstStyle/>
          <a:p>
            <a:pPr indent="0" marL="0">
              <a:buNone/>
            </a:pPr>
            <a:r>
              <a:rPr lang="en-US" sz="2900" b="1" dirty="0">
                <a:solidFill>
                  <a:srgbClr val="1E2761"/>
                </a:solidFill>
                <a:latin typeface="Cambria" pitchFamily="34" charset="0"/>
                <a:ea typeface="Cambria" pitchFamily="34" charset="-122"/>
                <a:cs typeface="Cambria" pitchFamily="34" charset="-120"/>
              </a:rPr>
              <a:t>0.787</a:t>
            </a:r>
            <a:endParaRPr lang="en-US" sz="2900" dirty="0"/>
          </a:p>
        </p:txBody>
      </p:sp>
      <p:sp>
        <p:nvSpPr>
          <p:cNvPr id="11" name="Text 9"/>
          <p:cNvSpPr/>
          <p:nvPr/>
        </p:nvSpPr>
        <p:spPr>
          <a:xfrm>
            <a:off x="2889504" y="2221992"/>
            <a:ext cx="1810512" cy="457200"/>
          </a:xfrm>
          <a:prstGeom prst="rect">
            <a:avLst/>
          </a:prstGeom>
          <a:noFill/>
          <a:ln/>
        </p:spPr>
        <p:txBody>
          <a:bodyPr wrap="square" lIns="0" tIns="0" rIns="0" bIns="0" rtlCol="0" anchor="ctr"/>
          <a:lstStyle/>
          <a:p>
            <a:pPr indent="0" marL="0">
              <a:buNone/>
            </a:pPr>
            <a:r>
              <a:rPr lang="en-US" sz="1150" b="1" dirty="0">
                <a:solidFill>
                  <a:srgbClr val="3A4560"/>
                </a:solidFill>
                <a:latin typeface="Calibri" pitchFamily="34" charset="0"/>
                <a:ea typeface="Calibri" pitchFamily="34" charset="-122"/>
                <a:cs typeface="Calibri" pitchFamily="34" charset="-120"/>
              </a:rPr>
              <a:t>MRR</a:t>
            </a:r>
            <a:endParaRPr lang="en-US" sz="1150" dirty="0"/>
          </a:p>
        </p:txBody>
      </p:sp>
      <p:sp>
        <p:nvSpPr>
          <p:cNvPr id="12" name="Text 10"/>
          <p:cNvSpPr/>
          <p:nvPr/>
        </p:nvSpPr>
        <p:spPr>
          <a:xfrm>
            <a:off x="2889504" y="2715768"/>
            <a:ext cx="1810512" cy="420624"/>
          </a:xfrm>
          <a:prstGeom prst="rect">
            <a:avLst/>
          </a:prstGeom>
          <a:noFill/>
          <a:ln/>
        </p:spPr>
        <p:txBody>
          <a:bodyPr wrap="square" lIns="0" tIns="0" rIns="0" bIns="0" rtlCol="0" anchor="ctr"/>
          <a:lstStyle/>
          <a:p>
            <a:pPr indent="0" marL="0">
              <a:lnSpc>
                <a:spcPct val="102000"/>
              </a:lnSpc>
              <a:buNone/>
            </a:pPr>
            <a:r>
              <a:rPr lang="en-US" sz="900" dirty="0">
                <a:solidFill>
                  <a:srgbClr val="7C88A6"/>
                </a:solidFill>
                <a:latin typeface="Calibri" pitchFamily="34" charset="0"/>
                <a:ea typeface="Calibri" pitchFamily="34" charset="-122"/>
                <a:cs typeface="Calibri" pitchFamily="34" charset="-120"/>
              </a:rPr>
              <a:t>first correct chunk ranks high</a:t>
            </a:r>
            <a:endParaRPr lang="en-US" sz="900" dirty="0"/>
          </a:p>
        </p:txBody>
      </p:sp>
      <p:sp>
        <p:nvSpPr>
          <p:cNvPr id="13" name="Shape 11"/>
          <p:cNvSpPr/>
          <p:nvPr/>
        </p:nvSpPr>
        <p:spPr>
          <a:xfrm>
            <a:off x="5029200" y="1417320"/>
            <a:ext cx="2103120" cy="1783080"/>
          </a:xfrm>
          <a:prstGeom prst="roundRect">
            <a:avLst>
              <a:gd name="adj" fmla="val 3590"/>
            </a:avLst>
          </a:prstGeom>
          <a:solidFill>
            <a:srgbClr val="EEF3FB"/>
          </a:solidFill>
          <a:ln/>
        </p:spPr>
      </p:sp>
      <p:sp>
        <p:nvSpPr>
          <p:cNvPr id="14" name="Text 12"/>
          <p:cNvSpPr/>
          <p:nvPr/>
        </p:nvSpPr>
        <p:spPr>
          <a:xfrm>
            <a:off x="5175504" y="1618488"/>
            <a:ext cx="1810512" cy="502920"/>
          </a:xfrm>
          <a:prstGeom prst="rect">
            <a:avLst/>
          </a:prstGeom>
          <a:noFill/>
          <a:ln/>
        </p:spPr>
        <p:txBody>
          <a:bodyPr wrap="square" lIns="0" tIns="0" rIns="0" bIns="0" rtlCol="0" anchor="ctr"/>
          <a:lstStyle/>
          <a:p>
            <a:pPr indent="0" marL="0">
              <a:buNone/>
            </a:pPr>
            <a:r>
              <a:rPr lang="en-US" sz="2900" b="1" dirty="0">
                <a:solidFill>
                  <a:srgbClr val="B45309"/>
                </a:solidFill>
                <a:latin typeface="Cambria" pitchFamily="34" charset="0"/>
                <a:ea typeface="Cambria" pitchFamily="34" charset="-122"/>
                <a:cs typeface="Cambria" pitchFamily="34" charset="-120"/>
              </a:rPr>
              <a:t>35.6%</a:t>
            </a:r>
            <a:endParaRPr lang="en-US" sz="2900" dirty="0"/>
          </a:p>
        </p:txBody>
      </p:sp>
      <p:sp>
        <p:nvSpPr>
          <p:cNvPr id="15" name="Text 13"/>
          <p:cNvSpPr/>
          <p:nvPr/>
        </p:nvSpPr>
        <p:spPr>
          <a:xfrm>
            <a:off x="5175504" y="2221992"/>
            <a:ext cx="1810512" cy="457200"/>
          </a:xfrm>
          <a:prstGeom prst="rect">
            <a:avLst/>
          </a:prstGeom>
          <a:noFill/>
          <a:ln/>
        </p:spPr>
        <p:txBody>
          <a:bodyPr wrap="square" lIns="0" tIns="0" rIns="0" bIns="0" rtlCol="0" anchor="ctr"/>
          <a:lstStyle/>
          <a:p>
            <a:pPr indent="0" marL="0">
              <a:buNone/>
            </a:pPr>
            <a:r>
              <a:rPr lang="en-US" sz="1150" b="1" dirty="0">
                <a:solidFill>
                  <a:srgbClr val="3A4560"/>
                </a:solidFill>
                <a:latin typeface="Calibri" pitchFamily="34" charset="0"/>
                <a:ea typeface="Calibri" pitchFamily="34" charset="-122"/>
                <a:cs typeface="Calibri" pitchFamily="34" charset="-120"/>
              </a:rPr>
              <a:t>Precision@5</a:t>
            </a:r>
            <a:endParaRPr lang="en-US" sz="1150" dirty="0"/>
          </a:p>
        </p:txBody>
      </p:sp>
      <p:sp>
        <p:nvSpPr>
          <p:cNvPr id="16" name="Text 14"/>
          <p:cNvSpPr/>
          <p:nvPr/>
        </p:nvSpPr>
        <p:spPr>
          <a:xfrm>
            <a:off x="5175504" y="2715768"/>
            <a:ext cx="1810512" cy="420624"/>
          </a:xfrm>
          <a:prstGeom prst="rect">
            <a:avLst/>
          </a:prstGeom>
          <a:noFill/>
          <a:ln/>
        </p:spPr>
        <p:txBody>
          <a:bodyPr wrap="square" lIns="0" tIns="0" rIns="0" bIns="0" rtlCol="0" anchor="ctr"/>
          <a:lstStyle/>
          <a:p>
            <a:pPr indent="0" marL="0">
              <a:lnSpc>
                <a:spcPct val="102000"/>
              </a:lnSpc>
              <a:buNone/>
            </a:pPr>
            <a:r>
              <a:rPr lang="en-US" sz="900" dirty="0">
                <a:solidFill>
                  <a:srgbClr val="7C88A6"/>
                </a:solidFill>
                <a:latin typeface="Calibri" pitchFamily="34" charset="0"/>
                <a:ea typeface="Calibri" pitchFamily="34" charset="-122"/>
                <a:cs typeface="Calibri" pitchFamily="34" charset="-120"/>
              </a:rPr>
              <a:t>relevant share of the top 5</a:t>
            </a:r>
            <a:endParaRPr lang="en-US" sz="900" dirty="0"/>
          </a:p>
        </p:txBody>
      </p:sp>
      <p:sp>
        <p:nvSpPr>
          <p:cNvPr id="17" name="Shape 15"/>
          <p:cNvSpPr/>
          <p:nvPr/>
        </p:nvSpPr>
        <p:spPr>
          <a:xfrm>
            <a:off x="7315200" y="1417320"/>
            <a:ext cx="2103120" cy="1783080"/>
          </a:xfrm>
          <a:prstGeom prst="roundRect">
            <a:avLst>
              <a:gd name="adj" fmla="val 3590"/>
            </a:avLst>
          </a:prstGeom>
          <a:solidFill>
            <a:srgbClr val="EEF3FB"/>
          </a:solidFill>
          <a:ln/>
        </p:spPr>
      </p:sp>
      <p:sp>
        <p:nvSpPr>
          <p:cNvPr id="18" name="Text 16"/>
          <p:cNvSpPr/>
          <p:nvPr/>
        </p:nvSpPr>
        <p:spPr>
          <a:xfrm>
            <a:off x="7461504" y="1618488"/>
            <a:ext cx="1810512" cy="502920"/>
          </a:xfrm>
          <a:prstGeom prst="rect">
            <a:avLst/>
          </a:prstGeom>
          <a:noFill/>
          <a:ln/>
        </p:spPr>
        <p:txBody>
          <a:bodyPr wrap="square" lIns="0" tIns="0" rIns="0" bIns="0" rtlCol="0" anchor="ctr"/>
          <a:lstStyle/>
          <a:p>
            <a:pPr indent="0" marL="0">
              <a:buNone/>
            </a:pPr>
            <a:r>
              <a:rPr lang="en-US" sz="2900" b="1" dirty="0">
                <a:solidFill>
                  <a:srgbClr val="1E2761"/>
                </a:solidFill>
                <a:latin typeface="Cambria" pitchFamily="34" charset="0"/>
                <a:ea typeface="Cambria" pitchFamily="34" charset="-122"/>
                <a:cs typeface="Cambria" pitchFamily="34" charset="-120"/>
              </a:rPr>
              <a:t>95.7%</a:t>
            </a:r>
            <a:endParaRPr lang="en-US" sz="2900" dirty="0"/>
          </a:p>
        </p:txBody>
      </p:sp>
      <p:sp>
        <p:nvSpPr>
          <p:cNvPr id="19" name="Text 17"/>
          <p:cNvSpPr/>
          <p:nvPr/>
        </p:nvSpPr>
        <p:spPr>
          <a:xfrm>
            <a:off x="7461504" y="2221992"/>
            <a:ext cx="1810512" cy="457200"/>
          </a:xfrm>
          <a:prstGeom prst="rect">
            <a:avLst/>
          </a:prstGeom>
          <a:noFill/>
          <a:ln/>
        </p:spPr>
        <p:txBody>
          <a:bodyPr wrap="square" lIns="0" tIns="0" rIns="0" bIns="0" rtlCol="0" anchor="ctr"/>
          <a:lstStyle/>
          <a:p>
            <a:pPr indent="0" marL="0">
              <a:buNone/>
            </a:pPr>
            <a:r>
              <a:rPr lang="en-US" sz="1150" b="1" dirty="0">
                <a:solidFill>
                  <a:srgbClr val="3A4560"/>
                </a:solidFill>
                <a:latin typeface="Calibri" pitchFamily="34" charset="0"/>
                <a:ea typeface="Calibri" pitchFamily="34" charset="-122"/>
                <a:cs typeface="Calibri" pitchFamily="34" charset="-120"/>
              </a:rPr>
              <a:t>Scope-gate accuracy</a:t>
            </a:r>
            <a:endParaRPr lang="en-US" sz="1150" dirty="0"/>
          </a:p>
        </p:txBody>
      </p:sp>
      <p:sp>
        <p:nvSpPr>
          <p:cNvPr id="20" name="Text 18"/>
          <p:cNvSpPr/>
          <p:nvPr/>
        </p:nvSpPr>
        <p:spPr>
          <a:xfrm>
            <a:off x="7461504" y="2715768"/>
            <a:ext cx="1810512" cy="420624"/>
          </a:xfrm>
          <a:prstGeom prst="rect">
            <a:avLst/>
          </a:prstGeom>
          <a:noFill/>
          <a:ln/>
        </p:spPr>
        <p:txBody>
          <a:bodyPr wrap="square" lIns="0" tIns="0" rIns="0" bIns="0" rtlCol="0" anchor="ctr"/>
          <a:lstStyle/>
          <a:p>
            <a:pPr indent="0" marL="0">
              <a:lnSpc>
                <a:spcPct val="102000"/>
              </a:lnSpc>
              <a:buNone/>
            </a:pPr>
            <a:r>
              <a:rPr lang="en-US" sz="900" dirty="0">
                <a:solidFill>
                  <a:srgbClr val="7C88A6"/>
                </a:solidFill>
                <a:latin typeface="Calibri" pitchFamily="34" charset="0"/>
                <a:ea typeface="Calibri" pitchFamily="34" charset="-122"/>
                <a:cs typeface="Calibri" pitchFamily="34" charset="-120"/>
              </a:rPr>
              <a:t>22 / 23 questions correct</a:t>
            </a:r>
            <a:endParaRPr lang="en-US" sz="900" dirty="0"/>
          </a:p>
        </p:txBody>
      </p:sp>
      <p:sp>
        <p:nvSpPr>
          <p:cNvPr id="21" name="Shape 19"/>
          <p:cNvSpPr/>
          <p:nvPr/>
        </p:nvSpPr>
        <p:spPr>
          <a:xfrm>
            <a:off x="9601200" y="1417320"/>
            <a:ext cx="2103120" cy="1783080"/>
          </a:xfrm>
          <a:prstGeom prst="roundRect">
            <a:avLst>
              <a:gd name="adj" fmla="val 3590"/>
            </a:avLst>
          </a:prstGeom>
          <a:solidFill>
            <a:srgbClr val="EEF3FB"/>
          </a:solidFill>
          <a:ln/>
        </p:spPr>
      </p:sp>
      <p:sp>
        <p:nvSpPr>
          <p:cNvPr id="22" name="Text 20"/>
          <p:cNvSpPr/>
          <p:nvPr/>
        </p:nvSpPr>
        <p:spPr>
          <a:xfrm>
            <a:off x="9747504" y="1618488"/>
            <a:ext cx="1810512" cy="502920"/>
          </a:xfrm>
          <a:prstGeom prst="rect">
            <a:avLst/>
          </a:prstGeom>
          <a:noFill/>
          <a:ln/>
        </p:spPr>
        <p:txBody>
          <a:bodyPr wrap="square" lIns="0" tIns="0" rIns="0" bIns="0" rtlCol="0" anchor="ctr"/>
          <a:lstStyle/>
          <a:p>
            <a:pPr indent="0" marL="0">
              <a:buNone/>
            </a:pPr>
            <a:r>
              <a:rPr lang="en-US" sz="2900" b="1" dirty="0">
                <a:solidFill>
                  <a:srgbClr val="1E2761"/>
                </a:solidFill>
                <a:latin typeface="Cambria" pitchFamily="34" charset="0"/>
                <a:ea typeface="Cambria" pitchFamily="34" charset="-122"/>
                <a:cs typeface="Cambria" pitchFamily="34" charset="-120"/>
              </a:rPr>
              <a:t>20.9 ms</a:t>
            </a:r>
            <a:endParaRPr lang="en-US" sz="2900" dirty="0"/>
          </a:p>
        </p:txBody>
      </p:sp>
      <p:sp>
        <p:nvSpPr>
          <p:cNvPr id="23" name="Text 21"/>
          <p:cNvSpPr/>
          <p:nvPr/>
        </p:nvSpPr>
        <p:spPr>
          <a:xfrm>
            <a:off x="9747504" y="2221992"/>
            <a:ext cx="1810512" cy="457200"/>
          </a:xfrm>
          <a:prstGeom prst="rect">
            <a:avLst/>
          </a:prstGeom>
          <a:noFill/>
          <a:ln/>
        </p:spPr>
        <p:txBody>
          <a:bodyPr wrap="square" lIns="0" tIns="0" rIns="0" bIns="0" rtlCol="0" anchor="ctr"/>
          <a:lstStyle/>
          <a:p>
            <a:pPr indent="0" marL="0">
              <a:buNone/>
            </a:pPr>
            <a:r>
              <a:rPr lang="en-US" sz="1150" b="1" dirty="0">
                <a:solidFill>
                  <a:srgbClr val="3A4560"/>
                </a:solidFill>
                <a:latin typeface="Calibri" pitchFamily="34" charset="0"/>
                <a:ea typeface="Calibri" pitchFamily="34" charset="-122"/>
                <a:cs typeface="Calibri" pitchFamily="34" charset="-120"/>
              </a:rPr>
              <a:t>Mean retrieval latency</a:t>
            </a:r>
            <a:endParaRPr lang="en-US" sz="1150" dirty="0"/>
          </a:p>
        </p:txBody>
      </p:sp>
      <p:sp>
        <p:nvSpPr>
          <p:cNvPr id="24" name="Text 22"/>
          <p:cNvSpPr/>
          <p:nvPr/>
        </p:nvSpPr>
        <p:spPr>
          <a:xfrm>
            <a:off x="9747504" y="2715768"/>
            <a:ext cx="1810512" cy="420624"/>
          </a:xfrm>
          <a:prstGeom prst="rect">
            <a:avLst/>
          </a:prstGeom>
          <a:noFill/>
          <a:ln/>
        </p:spPr>
        <p:txBody>
          <a:bodyPr wrap="square" lIns="0" tIns="0" rIns="0" bIns="0" rtlCol="0" anchor="ctr"/>
          <a:lstStyle/>
          <a:p>
            <a:pPr indent="0" marL="0">
              <a:lnSpc>
                <a:spcPct val="102000"/>
              </a:lnSpc>
              <a:buNone/>
            </a:pPr>
            <a:r>
              <a:rPr lang="en-US" sz="900" dirty="0">
                <a:solidFill>
                  <a:srgbClr val="7C88A6"/>
                </a:solidFill>
                <a:latin typeface="Calibri" pitchFamily="34" charset="0"/>
                <a:ea typeface="Calibri" pitchFamily="34" charset="-122"/>
                <a:cs typeface="Calibri" pitchFamily="34" charset="-120"/>
              </a:rPr>
              <a:t>ChromaDB top-5 search</a:t>
            </a:r>
            <a:endParaRPr lang="en-US" sz="900" dirty="0"/>
          </a:p>
        </p:txBody>
      </p:sp>
      <p:sp>
        <p:nvSpPr>
          <p:cNvPr id="25" name="Shape 23"/>
          <p:cNvSpPr/>
          <p:nvPr/>
        </p:nvSpPr>
        <p:spPr>
          <a:xfrm>
            <a:off x="457200" y="3611880"/>
            <a:ext cx="11274552" cy="2057400"/>
          </a:xfrm>
          <a:prstGeom prst="roundRect">
            <a:avLst>
              <a:gd name="adj" fmla="val 3111"/>
            </a:avLst>
          </a:prstGeom>
          <a:solidFill>
            <a:srgbClr val="EEF3FB"/>
          </a:solidFill>
          <a:ln/>
        </p:spPr>
      </p:sp>
      <p:sp>
        <p:nvSpPr>
          <p:cNvPr id="26" name="Shape 24"/>
          <p:cNvSpPr/>
          <p:nvPr/>
        </p:nvSpPr>
        <p:spPr>
          <a:xfrm>
            <a:off x="713232" y="3858768"/>
            <a:ext cx="384048" cy="384048"/>
          </a:xfrm>
          <a:prstGeom prst="ellipse">
            <a:avLst/>
          </a:prstGeom>
          <a:solidFill>
            <a:srgbClr val="CADCFC"/>
          </a:solidFill>
          <a:ln/>
        </p:spPr>
      </p:sp>
      <p:pic>
        <p:nvPicPr>
          <p:cNvPr id="27" name="Image 0" descr="/home/claude/icons/check.png">    </p:cNvPr>
          <p:cNvPicPr>
            <a:picLocks noChangeAspect="1"/>
          </p:cNvPicPr>
          <p:nvPr/>
        </p:nvPicPr>
        <p:blipFill>
          <a:blip r:embed="rId1"/>
          <a:stretch>
            <a:fillRect/>
          </a:stretch>
        </p:blipFill>
        <p:spPr>
          <a:xfrm>
            <a:off x="813084" y="3958620"/>
            <a:ext cx="184343" cy="184343"/>
          </a:xfrm>
          <a:prstGeom prst="rect">
            <a:avLst/>
          </a:prstGeom>
        </p:spPr>
      </p:pic>
      <p:sp>
        <p:nvSpPr>
          <p:cNvPr id="28" name="Text 25"/>
          <p:cNvSpPr/>
          <p:nvPr/>
        </p:nvSpPr>
        <p:spPr>
          <a:xfrm>
            <a:off x="1243584" y="3785616"/>
            <a:ext cx="10241280" cy="777240"/>
          </a:xfrm>
          <a:prstGeom prst="rect">
            <a:avLst/>
          </a:prstGeom>
          <a:noFill/>
          <a:ln/>
        </p:spPr>
        <p:txBody>
          <a:bodyPr wrap="square" lIns="0" tIns="0" rIns="0" bIns="0" rtlCol="0" anchor="ctr"/>
          <a:lstStyle/>
          <a:p>
            <a:pPr indent="0" marL="0">
              <a:lnSpc>
                <a:spcPct val="110000"/>
              </a:lnSpc>
              <a:buNone/>
            </a:pPr>
            <a:r>
              <a:rPr lang="en-US" sz="1250" b="1" dirty="0">
                <a:solidFill>
                  <a:srgbClr val="1E2761"/>
                </a:solidFill>
                <a:latin typeface="Calibri" pitchFamily="34" charset="0"/>
                <a:ea typeface="Calibri" pitchFamily="34" charset="-122"/>
                <a:cs typeface="Calibri" pitchFamily="34" charset="-120"/>
              </a:rPr>
              <a:t>The right lecture is almost always findable — but it drags noise along. </a:t>
            </a:r>
            <a:pPr indent="0" marL="0">
              <a:lnSpc>
                <a:spcPct val="110000"/>
              </a:lnSpc>
              <a:buNone/>
            </a:pPr>
            <a:r>
              <a:rPr lang="en-US" sz="1250" dirty="0">
                <a:solidFill>
                  <a:srgbClr val="3A4560"/>
                </a:solidFill>
                <a:latin typeface="Calibri" pitchFamily="34" charset="0"/>
                <a:ea typeface="Calibri" pitchFamily="34" charset="-122"/>
                <a:cs typeface="Calibri" pitchFamily="34" charset="-120"/>
              </a:rPr>
              <a:t>At 35.6% precision, roughly 3 of every 5 retrieved chunks aren’t actually relevant. The natural next improvement: a re-ranking stage, or a smaller k.</a:t>
            </a:r>
            <a:endParaRPr lang="en-US" sz="1250" dirty="0"/>
          </a:p>
        </p:txBody>
      </p:sp>
      <p:sp>
        <p:nvSpPr>
          <p:cNvPr id="29" name="Shape 26"/>
          <p:cNvSpPr/>
          <p:nvPr/>
        </p:nvSpPr>
        <p:spPr>
          <a:xfrm>
            <a:off x="713232" y="4828032"/>
            <a:ext cx="384048" cy="384048"/>
          </a:xfrm>
          <a:prstGeom prst="ellipse">
            <a:avLst/>
          </a:prstGeom>
          <a:solidFill>
            <a:srgbClr val="FBEAD3"/>
          </a:solidFill>
          <a:ln/>
        </p:spPr>
      </p:sp>
      <p:pic>
        <p:nvPicPr>
          <p:cNvPr id="30" name="Image 1" descr="/home/claude/icons/alert.png">    </p:cNvPr>
          <p:cNvPicPr>
            <a:picLocks noChangeAspect="1"/>
          </p:cNvPicPr>
          <p:nvPr/>
        </p:nvPicPr>
        <p:blipFill>
          <a:blip r:embed="rId2"/>
          <a:stretch>
            <a:fillRect/>
          </a:stretch>
        </p:blipFill>
        <p:spPr>
          <a:xfrm>
            <a:off x="813084" y="4927884"/>
            <a:ext cx="184343" cy="184343"/>
          </a:xfrm>
          <a:prstGeom prst="rect">
            <a:avLst/>
          </a:prstGeom>
        </p:spPr>
      </p:pic>
      <p:sp>
        <p:nvSpPr>
          <p:cNvPr id="31" name="Text 27"/>
          <p:cNvSpPr/>
          <p:nvPr/>
        </p:nvSpPr>
        <p:spPr>
          <a:xfrm>
            <a:off x="1243584" y="4754880"/>
            <a:ext cx="10241280" cy="777240"/>
          </a:xfrm>
          <a:prstGeom prst="rect">
            <a:avLst/>
          </a:prstGeom>
          <a:noFill/>
          <a:ln/>
        </p:spPr>
        <p:txBody>
          <a:bodyPr wrap="square" lIns="0" tIns="0" rIns="0" bIns="0" rtlCol="0" anchor="ctr"/>
          <a:lstStyle/>
          <a:p>
            <a:pPr indent="0" marL="0">
              <a:lnSpc>
                <a:spcPct val="110000"/>
              </a:lnSpc>
              <a:buNone/>
            </a:pPr>
            <a:r>
              <a:rPr lang="en-US" sz="1250" b="1" dirty="0">
                <a:solidFill>
                  <a:srgbClr val="B45309"/>
                </a:solidFill>
                <a:latin typeface="Calibri" pitchFamily="34" charset="0"/>
                <a:ea typeface="Calibri" pitchFamily="34" charset="-122"/>
                <a:cs typeface="Calibri" pitchFamily="34" charset="-120"/>
              </a:rPr>
              <a:t>The scope gate isn’t airtight: </a:t>
            </a:r>
            <a:pPr indent="0" marL="0">
              <a:lnSpc>
                <a:spcPct val="110000"/>
              </a:lnSpc>
              <a:buNone/>
            </a:pPr>
            <a:r>
              <a:rPr lang="en-US" sz="1250" dirty="0">
                <a:solidFill>
                  <a:srgbClr val="3A4560"/>
                </a:solidFill>
                <a:latin typeface="Calibri" pitchFamily="34" charset="0"/>
                <a:ea typeface="Calibri" pitchFamily="34" charset="-122"/>
                <a:cs typeface="Calibri" pitchFamily="34" charset="-120"/>
              </a:rPr>
              <a:t>one out-of-scope question — a cookie recipe — was incorrectly accepted as in-scope. A known limitation, not a solved problem.</a:t>
            </a:r>
            <a:endParaRPr lang="en-US" sz="1250" dirty="0"/>
          </a:p>
        </p:txBody>
      </p:sp>
      <p:sp>
        <p:nvSpPr>
          <p:cNvPr id="32" name="Text 28"/>
          <p:cNvSpPr/>
          <p:nvPr/>
        </p:nvSpPr>
        <p:spPr>
          <a:xfrm>
            <a:off x="457200" y="5943600"/>
            <a:ext cx="11274552" cy="256032"/>
          </a:xfrm>
          <a:prstGeom prst="rect">
            <a:avLst/>
          </a:prstGeom>
          <a:noFill/>
          <a:ln/>
        </p:spPr>
        <p:txBody>
          <a:bodyPr wrap="square" lIns="0" tIns="0" rIns="0" bIns="0" rtlCol="0" anchor="ctr"/>
          <a:lstStyle/>
          <a:p>
            <a:pPr indent="0" marL="0">
              <a:buNone/>
            </a:pPr>
            <a:r>
              <a:rPr lang="en-US" sz="1000" i="1" dirty="0">
                <a:solidFill>
                  <a:srgbClr val="7C88A6"/>
                </a:solidFill>
                <a:latin typeface="Calibri" pitchFamily="34" charset="0"/>
                <a:ea typeface="Calibri" pitchFamily="34" charset="-122"/>
                <a:cs typeface="Calibri" pitchFamily="34" charset="-120"/>
              </a:rPr>
              <a:t>Retrieval-only run over the golden set: 18 in-scope + 5 out-of-scope questions — no LLM calls involved.</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5486400" cy="219456"/>
          </a:xfrm>
          <a:prstGeom prst="rect">
            <a:avLst/>
          </a:prstGeom>
          <a:noFill/>
          <a:ln/>
        </p:spPr>
        <p:txBody>
          <a:bodyPr wrap="square" lIns="0" tIns="0" rIns="0" bIns="0" rtlCol="0" anchor="ctr"/>
          <a:lstStyle/>
          <a:p>
            <a:pPr indent="0" marL="0">
              <a:buNone/>
            </a:pPr>
            <a:r>
              <a:rPr lang="en-US" sz="950" b="1" spc="300" kern="0" dirty="0">
                <a:solidFill>
                  <a:srgbClr val="7C88A6"/>
                </a:solidFill>
                <a:latin typeface="Calibri" pitchFamily="34" charset="0"/>
                <a:ea typeface="Calibri" pitchFamily="34" charset="-122"/>
                <a:cs typeface="Calibri" pitchFamily="34" charset="-120"/>
              </a:rPr>
              <a:t>LECTUREBANK RAG CHATBOT</a:t>
            </a:r>
            <a:endParaRPr lang="en-US" sz="950" dirty="0"/>
          </a:p>
        </p:txBody>
      </p:sp>
      <p:sp>
        <p:nvSpPr>
          <p:cNvPr id="3" name="Text 1"/>
          <p:cNvSpPr/>
          <p:nvPr/>
        </p:nvSpPr>
        <p:spPr>
          <a:xfrm>
            <a:off x="457200" y="512064"/>
            <a:ext cx="11247120" cy="621792"/>
          </a:xfrm>
          <a:prstGeom prst="rect">
            <a:avLst/>
          </a:prstGeom>
          <a:noFill/>
          <a:ln/>
        </p:spPr>
        <p:txBody>
          <a:bodyPr wrap="square" lIns="0" tIns="0" rIns="0" bIns="0" rtlCol="0" anchor="ctr"/>
          <a:lstStyle/>
          <a:p>
            <a:pPr indent="0" marL="0">
              <a:buNone/>
            </a:pPr>
            <a:r>
              <a:rPr lang="en-US" sz="3600" b="1" dirty="0">
                <a:solidFill>
                  <a:srgbClr val="1E2761"/>
                </a:solidFill>
                <a:latin typeface="Cambria" pitchFamily="34" charset="0"/>
                <a:ea typeface="Cambria" pitchFamily="34" charset="-122"/>
                <a:cs typeface="Cambria" pitchFamily="34" charset="-120"/>
              </a:rPr>
              <a:t>Results — Generation Quality (LLM-Judged)</a:t>
            </a:r>
            <a:endParaRPr lang="en-US" sz="3600" dirty="0"/>
          </a:p>
        </p:txBody>
      </p:sp>
      <p:sp>
        <p:nvSpPr>
          <p:cNvPr id="4" name="Text 2"/>
          <p:cNvSpPr/>
          <p:nvPr/>
        </p:nvSpPr>
        <p:spPr>
          <a:xfrm>
            <a:off x="11475720" y="6510528"/>
            <a:ext cx="502920" cy="237744"/>
          </a:xfrm>
          <a:prstGeom prst="rect">
            <a:avLst/>
          </a:prstGeom>
          <a:noFill/>
          <a:ln/>
        </p:spPr>
        <p:txBody>
          <a:bodyPr wrap="square" lIns="0" tIns="0" rIns="0" bIns="0" rtlCol="0" anchor="ctr"/>
          <a:lstStyle/>
          <a:p>
            <a:pPr algn="r" indent="0" marL="0">
              <a:buNone/>
            </a:pPr>
            <a:r>
              <a:rPr lang="en-US" sz="900" dirty="0">
                <a:solidFill>
                  <a:srgbClr val="7C88A6"/>
                </a:solidFill>
                <a:latin typeface="Calibri" pitchFamily="34" charset="0"/>
                <a:ea typeface="Calibri" pitchFamily="34" charset="-122"/>
                <a:cs typeface="Calibri" pitchFamily="34" charset="-120"/>
              </a:rPr>
              <a:t>8</a:t>
            </a:r>
            <a:endParaRPr lang="en-US" sz="900" dirty="0"/>
          </a:p>
        </p:txBody>
      </p:sp>
      <p:graphicFrame>
        <p:nvGraphicFramePr>
          <p:cNvPr id="5" name="Chart 0" descr=""/>
          <p:cNvGraphicFramePr/>
          <p:nvPr/>
        </p:nvGraphicFramePr>
        <p:xfrm>
          <a:off x="457200" y="1325880"/>
          <a:ext cx="6492240" cy="416052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457200" y="5623560"/>
            <a:ext cx="6492240" cy="411480"/>
          </a:xfrm>
          <a:prstGeom prst="rect">
            <a:avLst/>
          </a:prstGeom>
          <a:noFill/>
          <a:ln/>
        </p:spPr>
        <p:txBody>
          <a:bodyPr wrap="square" lIns="0" tIns="0" rIns="0" bIns="0" rtlCol="0" anchor="ctr"/>
          <a:lstStyle/>
          <a:p>
            <a:pPr indent="0" marL="0">
              <a:lnSpc>
                <a:spcPct val="105000"/>
              </a:lnSpc>
              <a:buNone/>
            </a:pPr>
            <a:r>
              <a:rPr lang="en-US" sz="950" i="1" dirty="0">
                <a:solidFill>
                  <a:srgbClr val="7C88A6"/>
                </a:solidFill>
                <a:latin typeface="Calibri" pitchFamily="34" charset="0"/>
                <a:ea typeface="Calibri" pitchFamily="34" charset="-122"/>
                <a:cs typeface="Calibri" pitchFamily="34" charset="-120"/>
              </a:rPr>
              <a:t>18-question golden set  ·  judge: openai/gpt-oss-20b  ·  context recall is a keyword proxy</a:t>
            </a:r>
            <a:endParaRPr lang="en-US" sz="950" dirty="0"/>
          </a:p>
        </p:txBody>
      </p:sp>
      <p:sp>
        <p:nvSpPr>
          <p:cNvPr id="7" name="Shape 4"/>
          <p:cNvSpPr/>
          <p:nvPr/>
        </p:nvSpPr>
        <p:spPr>
          <a:xfrm>
            <a:off x="7269480" y="1325880"/>
            <a:ext cx="4462272" cy="4983480"/>
          </a:xfrm>
          <a:prstGeom prst="roundRect">
            <a:avLst>
              <a:gd name="adj" fmla="val 1434"/>
            </a:avLst>
          </a:prstGeom>
          <a:solidFill>
            <a:srgbClr val="EEF3FB"/>
          </a:solidFill>
          <a:ln/>
        </p:spPr>
      </p:sp>
      <p:sp>
        <p:nvSpPr>
          <p:cNvPr id="8" name="Text 5"/>
          <p:cNvSpPr/>
          <p:nvPr/>
        </p:nvSpPr>
        <p:spPr>
          <a:xfrm>
            <a:off x="7488936" y="1517904"/>
            <a:ext cx="4023360" cy="292608"/>
          </a:xfrm>
          <a:prstGeom prst="rect">
            <a:avLst/>
          </a:prstGeom>
          <a:noFill/>
          <a:ln/>
        </p:spPr>
        <p:txBody>
          <a:bodyPr wrap="square" lIns="0" tIns="0" rIns="0" bIns="0" rtlCol="0" anchor="ctr"/>
          <a:lstStyle/>
          <a:p>
            <a:pPr indent="0" marL="0">
              <a:buNone/>
            </a:pPr>
            <a:r>
              <a:rPr lang="en-US" sz="1450" b="1" dirty="0">
                <a:solidFill>
                  <a:srgbClr val="B45309"/>
                </a:solidFill>
                <a:latin typeface="Calibri" pitchFamily="34" charset="0"/>
                <a:ea typeface="Calibri" pitchFamily="34" charset="-122"/>
                <a:cs typeface="Calibri" pitchFamily="34" charset="-120"/>
              </a:rPr>
              <a:t>Faithfulness is the weak spot</a:t>
            </a:r>
            <a:endParaRPr lang="en-US" sz="1450" dirty="0"/>
          </a:p>
        </p:txBody>
      </p:sp>
      <p:sp>
        <p:nvSpPr>
          <p:cNvPr id="9" name="Text 6"/>
          <p:cNvSpPr/>
          <p:nvPr/>
        </p:nvSpPr>
        <p:spPr>
          <a:xfrm>
            <a:off x="7488936" y="1901952"/>
            <a:ext cx="4023360" cy="960120"/>
          </a:xfrm>
          <a:prstGeom prst="rect">
            <a:avLst/>
          </a:prstGeom>
          <a:noFill/>
          <a:ln/>
        </p:spPr>
        <p:txBody>
          <a:bodyPr wrap="square" lIns="0" tIns="0" rIns="0" bIns="0" rtlCol="0" anchor="ctr"/>
          <a:lstStyle/>
          <a:p>
            <a:pPr indent="0" marL="0">
              <a:lnSpc>
                <a:spcPct val="107000"/>
              </a:lnSpc>
              <a:buNone/>
            </a:pPr>
            <a:r>
              <a:rPr lang="en-US" sz="1050" b="1" dirty="0">
                <a:solidFill>
                  <a:srgbClr val="1E2761"/>
                </a:solidFill>
                <a:latin typeface="Calibri" pitchFamily="34" charset="0"/>
                <a:ea typeface="Calibri" pitchFamily="34" charset="-122"/>
                <a:cs typeface="Calibri" pitchFamily="34" charset="-120"/>
              </a:rPr>
              <a:t>60.0% (Groq) vs 59.4% (local) — </a:t>
            </a:r>
            <a:pPr indent="0" marL="0">
              <a:lnSpc>
                <a:spcPct val="107000"/>
              </a:lnSpc>
              <a:buNone/>
            </a:pPr>
            <a:r>
              <a:rPr lang="en-US" sz="1050" dirty="0">
                <a:solidFill>
                  <a:srgbClr val="3A4560"/>
                </a:solidFill>
                <a:latin typeface="Calibri" pitchFamily="34" charset="0"/>
                <a:ea typeface="Calibri" pitchFamily="34" charset="-122"/>
                <a:cs typeface="Calibri" pitchFamily="34" charset="-120"/>
              </a:rPr>
              <a:t>swapping the local model doesn’t fix grounding; it’s a different model failing in similar proportion, at ~57× the latency (884 ms → ~50.4 s mean).</a:t>
            </a:r>
            <a:endParaRPr lang="en-US" sz="1050" dirty="0"/>
          </a:p>
        </p:txBody>
      </p:sp>
      <p:sp>
        <p:nvSpPr>
          <p:cNvPr id="10" name="Text 7"/>
          <p:cNvSpPr/>
          <p:nvPr/>
        </p:nvSpPr>
        <p:spPr>
          <a:xfrm>
            <a:off x="7488936" y="2889504"/>
            <a:ext cx="4023360" cy="502920"/>
          </a:xfrm>
          <a:prstGeom prst="rect">
            <a:avLst/>
          </a:prstGeom>
          <a:noFill/>
          <a:ln/>
        </p:spPr>
        <p:txBody>
          <a:bodyPr wrap="square" lIns="0" tIns="0" rIns="0" bIns="0" rtlCol="0" anchor="ctr"/>
          <a:lstStyle/>
          <a:p>
            <a:pPr indent="0" marL="0">
              <a:lnSpc>
                <a:spcPct val="107000"/>
              </a:lnSpc>
              <a:buNone/>
            </a:pPr>
            <a:r>
              <a:rPr lang="en-US" sz="1050" b="1" dirty="0">
                <a:solidFill>
                  <a:srgbClr val="1E2761"/>
                </a:solidFill>
                <a:latin typeface="Calibri" pitchFamily="34" charset="0"/>
                <a:ea typeface="Calibri" pitchFamily="34" charset="-122"/>
                <a:cs typeface="Calibri" pitchFamily="34" charset="-120"/>
              </a:rPr>
              <a:t>Context precision 40.0% </a:t>
            </a:r>
            <a:pPr indent="0" marL="0">
              <a:lnSpc>
                <a:spcPct val="107000"/>
              </a:lnSpc>
              <a:buNone/>
            </a:pPr>
            <a:r>
              <a:rPr lang="en-US" sz="1050" dirty="0">
                <a:solidFill>
                  <a:srgbClr val="3A4560"/>
                </a:solidFill>
                <a:latin typeface="Calibri" pitchFamily="34" charset="0"/>
                <a:ea typeface="Calibri" pitchFamily="34" charset="-122"/>
                <a:cs typeface="Calibri" pitchFamily="34" charset="-120"/>
              </a:rPr>
              <a:t>on the Groq run (not computed for the local run).</a:t>
            </a:r>
            <a:endParaRPr lang="en-US" sz="1050" dirty="0"/>
          </a:p>
        </p:txBody>
      </p:sp>
      <p:sp>
        <p:nvSpPr>
          <p:cNvPr id="11" name="Text 8"/>
          <p:cNvSpPr/>
          <p:nvPr/>
        </p:nvSpPr>
        <p:spPr>
          <a:xfrm>
            <a:off x="7488936" y="3456432"/>
            <a:ext cx="4023360" cy="256032"/>
          </a:xfrm>
          <a:prstGeom prst="rect">
            <a:avLst/>
          </a:prstGeom>
          <a:noFill/>
          <a:ln/>
        </p:spPr>
        <p:txBody>
          <a:bodyPr wrap="square" lIns="0" tIns="0" rIns="0" bIns="0" rtlCol="0" anchor="ctr"/>
          <a:lstStyle/>
          <a:p>
            <a:pPr indent="0" marL="0">
              <a:buNone/>
            </a:pPr>
            <a:r>
              <a:rPr lang="en-US" sz="1050" b="1" dirty="0">
                <a:solidFill>
                  <a:srgbClr val="1E2761"/>
                </a:solidFill>
                <a:latin typeface="Calibri" pitchFamily="34" charset="0"/>
                <a:ea typeface="Calibri" pitchFamily="34" charset="-122"/>
                <a:cs typeface="Calibri" pitchFamily="34" charset="-120"/>
              </a:rPr>
              <a:t>What the judge caught that a skim would miss:</a:t>
            </a:r>
            <a:endParaRPr lang="en-US" sz="1050" dirty="0"/>
          </a:p>
        </p:txBody>
      </p:sp>
      <p:sp>
        <p:nvSpPr>
          <p:cNvPr id="12" name="Text 9"/>
          <p:cNvSpPr/>
          <p:nvPr/>
        </p:nvSpPr>
        <p:spPr>
          <a:xfrm>
            <a:off x="7488936" y="3749040"/>
            <a:ext cx="4023360" cy="2377440"/>
          </a:xfrm>
          <a:prstGeom prst="rect">
            <a:avLst/>
          </a:prstGeom>
          <a:noFill/>
          <a:ln/>
        </p:spPr>
        <p:txBody>
          <a:bodyPr wrap="square" lIns="0" tIns="0" rIns="0" bIns="0" rtlCol="0" anchor="t"/>
          <a:lstStyle/>
          <a:p>
            <a:pPr marL="127000" indent="-127000">
              <a:lnSpc>
                <a:spcPct val="106000"/>
              </a:lnSpc>
              <a:spcAft>
                <a:spcPts val="700"/>
              </a:spcAft>
              <a:buSzPct val="100000"/>
              <a:buChar char="•"/>
            </a:pPr>
            <a:r>
              <a:rPr lang="en-US" sz="1000" dirty="0">
                <a:solidFill>
                  <a:srgbClr val="3A4560"/>
                </a:solidFill>
                <a:latin typeface="Calibri" pitchFamily="34" charset="0"/>
                <a:ea typeface="Calibri" pitchFamily="34" charset="-122"/>
                <a:cs typeface="Calibri" pitchFamily="34" charset="-120"/>
              </a:rPr>
              <a:t>Ungrounded lecture-to-instructor attributions (faithfulness 0.0).</a:t>
            </a:r>
            <a:endParaRPr lang="en-US" sz="1000" dirty="0"/>
          </a:p>
          <a:p>
            <a:pPr marL="127000" indent="-127000">
              <a:lnSpc>
                <a:spcPct val="106000"/>
              </a:lnSpc>
              <a:spcAft>
                <a:spcPts val="700"/>
              </a:spcAft>
              <a:buSzPct val="100000"/>
              <a:buChar char="•"/>
            </a:pPr>
            <a:r>
              <a:rPr lang="en-US" sz="1000" dirty="0">
                <a:solidFill>
                  <a:srgbClr val="3A4560"/>
                </a:solidFill>
                <a:latin typeface="Calibri" pitchFamily="34" charset="0"/>
                <a:ea typeface="Calibri" pitchFamily="34" charset="-122"/>
                <a:cs typeface="Calibri" pitchFamily="34" charset="-120"/>
              </a:rPr>
              <a:t>Confident quotes &amp; steps for Naive Bayes that were not in the retrieved context — fluent, plausible, wrong (0.0).</a:t>
            </a:r>
            <a:endParaRPr lang="en-US" sz="1000" dirty="0"/>
          </a:p>
          <a:p>
            <a:pPr marL="127000" indent="-127000">
              <a:lnSpc>
                <a:spcPct val="106000"/>
              </a:lnSpc>
              <a:spcAft>
                <a:spcPts val="700"/>
              </a:spcAft>
              <a:buSzPct val="100000"/>
              <a:buChar char="•"/>
            </a:pPr>
            <a:r>
              <a:rPr lang="en-US" sz="1000" dirty="0">
                <a:solidFill>
                  <a:srgbClr val="3A4560"/>
                </a:solidFill>
                <a:latin typeface="Calibri" pitchFamily="34" charset="0"/>
                <a:ea typeface="Calibri" pitchFamily="34" charset="-122"/>
                <a:cs typeface="Calibri" pitchFamily="34" charset="-120"/>
              </a:rPr>
              <a:t>An RNN answer degenerating into duplicated raw PDF-extraction fragments — a real chunking defect (0.25 faithfulness, 0.0 relevancy).</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5486400" cy="219456"/>
          </a:xfrm>
          <a:prstGeom prst="rect">
            <a:avLst/>
          </a:prstGeom>
          <a:noFill/>
          <a:ln/>
        </p:spPr>
        <p:txBody>
          <a:bodyPr wrap="square" lIns="0" tIns="0" rIns="0" bIns="0" rtlCol="0" anchor="ctr"/>
          <a:lstStyle/>
          <a:p>
            <a:pPr indent="0" marL="0">
              <a:buNone/>
            </a:pPr>
            <a:r>
              <a:rPr lang="en-US" sz="950" b="1" spc="300" kern="0" dirty="0">
                <a:solidFill>
                  <a:srgbClr val="7C88A6"/>
                </a:solidFill>
                <a:latin typeface="Calibri" pitchFamily="34" charset="0"/>
                <a:ea typeface="Calibri" pitchFamily="34" charset="-122"/>
                <a:cs typeface="Calibri" pitchFamily="34" charset="-120"/>
              </a:rPr>
              <a:t>LECTUREBANK RAG CHATBOT</a:t>
            </a:r>
            <a:endParaRPr lang="en-US" sz="950" dirty="0"/>
          </a:p>
        </p:txBody>
      </p:sp>
      <p:sp>
        <p:nvSpPr>
          <p:cNvPr id="3" name="Text 1"/>
          <p:cNvSpPr/>
          <p:nvPr/>
        </p:nvSpPr>
        <p:spPr>
          <a:xfrm>
            <a:off x="457200" y="512064"/>
            <a:ext cx="11247120" cy="621792"/>
          </a:xfrm>
          <a:prstGeom prst="rect">
            <a:avLst/>
          </a:prstGeom>
          <a:noFill/>
          <a:ln/>
        </p:spPr>
        <p:txBody>
          <a:bodyPr wrap="square" lIns="0" tIns="0" rIns="0" bIns="0" rtlCol="0" anchor="ctr"/>
          <a:lstStyle/>
          <a:p>
            <a:pPr indent="0" marL="0">
              <a:buNone/>
            </a:pPr>
            <a:r>
              <a:rPr lang="en-US" sz="3600" b="1" dirty="0">
                <a:solidFill>
                  <a:srgbClr val="1E2761"/>
                </a:solidFill>
                <a:latin typeface="Cambria" pitchFamily="34" charset="0"/>
                <a:ea typeface="Cambria" pitchFamily="34" charset="-122"/>
                <a:cs typeface="Cambria" pitchFamily="34" charset="-120"/>
              </a:rPr>
              <a:t>Latency — Groq Cloud vs Local Ollama</a:t>
            </a:r>
            <a:endParaRPr lang="en-US" sz="3600" dirty="0"/>
          </a:p>
        </p:txBody>
      </p:sp>
      <p:sp>
        <p:nvSpPr>
          <p:cNvPr id="4" name="Text 2"/>
          <p:cNvSpPr/>
          <p:nvPr/>
        </p:nvSpPr>
        <p:spPr>
          <a:xfrm>
            <a:off x="11475720" y="6510528"/>
            <a:ext cx="502920" cy="237744"/>
          </a:xfrm>
          <a:prstGeom prst="rect">
            <a:avLst/>
          </a:prstGeom>
          <a:noFill/>
          <a:ln/>
        </p:spPr>
        <p:txBody>
          <a:bodyPr wrap="square" lIns="0" tIns="0" rIns="0" bIns="0" rtlCol="0" anchor="ctr"/>
          <a:lstStyle/>
          <a:p>
            <a:pPr algn="r" indent="0" marL="0">
              <a:buNone/>
            </a:pPr>
            <a:r>
              <a:rPr lang="en-US" sz="900" dirty="0">
                <a:solidFill>
                  <a:srgbClr val="7C88A6"/>
                </a:solidFill>
                <a:latin typeface="Calibri" pitchFamily="34" charset="0"/>
                <a:ea typeface="Calibri" pitchFamily="34" charset="-122"/>
                <a:cs typeface="Calibri" pitchFamily="34" charset="-120"/>
              </a:rPr>
              <a:t>9</a:t>
            </a:r>
            <a:endParaRPr lang="en-US" sz="900" dirty="0"/>
          </a:p>
        </p:txBody>
      </p:sp>
      <p:graphicFrame>
        <p:nvGraphicFramePr>
          <p:cNvPr id="5" name="Chart 0" descr=""/>
          <p:cNvGraphicFramePr/>
          <p:nvPr/>
        </p:nvGraphicFramePr>
        <p:xfrm>
          <a:off x="457200" y="1325880"/>
          <a:ext cx="6492240" cy="416052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457200" y="5623560"/>
            <a:ext cx="6492240" cy="274320"/>
          </a:xfrm>
          <a:prstGeom prst="rect">
            <a:avLst/>
          </a:prstGeom>
          <a:noFill/>
          <a:ln/>
        </p:spPr>
        <p:txBody>
          <a:bodyPr wrap="square" lIns="0" tIns="0" rIns="0" bIns="0" rtlCol="0" anchor="ctr"/>
          <a:lstStyle/>
          <a:p>
            <a:pPr indent="0" marL="0">
              <a:buNone/>
            </a:pPr>
            <a:r>
              <a:rPr lang="en-US" sz="950" i="1" dirty="0">
                <a:solidFill>
                  <a:srgbClr val="7C88A6"/>
                </a:solidFill>
                <a:latin typeface="Calibri" pitchFamily="34" charset="0"/>
                <a:ea typeface="Calibri" pitchFamily="34" charset="-122"/>
                <a:cs typeface="Calibri" pitchFamily="34" charset="-120"/>
              </a:rPr>
              <a:t>End-to-end generation time, 8 identical prompts per backend.</a:t>
            </a:r>
            <a:endParaRPr lang="en-US" sz="950" dirty="0"/>
          </a:p>
        </p:txBody>
      </p:sp>
      <p:sp>
        <p:nvSpPr>
          <p:cNvPr id="7" name="Text 4"/>
          <p:cNvSpPr/>
          <p:nvPr/>
        </p:nvSpPr>
        <p:spPr>
          <a:xfrm>
            <a:off x="7269480" y="1371600"/>
            <a:ext cx="4462272" cy="960120"/>
          </a:xfrm>
          <a:prstGeom prst="rect">
            <a:avLst/>
          </a:prstGeom>
          <a:noFill/>
          <a:ln/>
        </p:spPr>
        <p:txBody>
          <a:bodyPr wrap="square" lIns="0" tIns="0" rIns="0" bIns="0" rtlCol="0" anchor="ctr"/>
          <a:lstStyle/>
          <a:p>
            <a:pPr indent="0" marL="0">
              <a:buNone/>
            </a:pPr>
            <a:r>
              <a:rPr lang="en-US" sz="6000" b="1" dirty="0">
                <a:solidFill>
                  <a:srgbClr val="1E2761"/>
                </a:solidFill>
                <a:latin typeface="Cambria" pitchFamily="34" charset="0"/>
                <a:ea typeface="Cambria" pitchFamily="34" charset="-122"/>
                <a:cs typeface="Cambria" pitchFamily="34" charset="-120"/>
              </a:rPr>
              <a:t>≈ 47.5×</a:t>
            </a:r>
            <a:endParaRPr lang="en-US" sz="6000" dirty="0"/>
          </a:p>
        </p:txBody>
      </p:sp>
      <p:sp>
        <p:nvSpPr>
          <p:cNvPr id="8" name="Text 5"/>
          <p:cNvSpPr/>
          <p:nvPr/>
        </p:nvSpPr>
        <p:spPr>
          <a:xfrm>
            <a:off x="7269480" y="2395728"/>
            <a:ext cx="4370832" cy="566928"/>
          </a:xfrm>
          <a:prstGeom prst="rect">
            <a:avLst/>
          </a:prstGeom>
          <a:noFill/>
          <a:ln/>
        </p:spPr>
        <p:txBody>
          <a:bodyPr wrap="square" lIns="0" tIns="0" rIns="0" bIns="0" rtlCol="0" anchor="ctr"/>
          <a:lstStyle/>
          <a:p>
            <a:pPr indent="0" marL="0">
              <a:lnSpc>
                <a:spcPct val="110000"/>
              </a:lnSpc>
              <a:buNone/>
            </a:pPr>
            <a:r>
              <a:rPr lang="en-US" sz="1300" dirty="0">
                <a:solidFill>
                  <a:srgbClr val="3A4560"/>
                </a:solidFill>
                <a:latin typeface="Calibri" pitchFamily="34" charset="0"/>
                <a:ea typeface="Calibri" pitchFamily="34" charset="-122"/>
                <a:cs typeface="Calibri" pitchFamily="34" charset="-120"/>
              </a:rPr>
              <a:t>faster mean response on Groq cloud than local CPU inference on this machine.</a:t>
            </a:r>
            <a:endParaRPr lang="en-US" sz="1300" dirty="0"/>
          </a:p>
        </p:txBody>
      </p:sp>
      <p:sp>
        <p:nvSpPr>
          <p:cNvPr id="9" name="Text 6"/>
          <p:cNvSpPr/>
          <p:nvPr/>
        </p:nvSpPr>
        <p:spPr>
          <a:xfrm>
            <a:off x="7269480" y="3154680"/>
            <a:ext cx="4462272" cy="777240"/>
          </a:xfrm>
          <a:prstGeom prst="rect">
            <a:avLst/>
          </a:prstGeom>
          <a:noFill/>
          <a:ln/>
        </p:spPr>
        <p:txBody>
          <a:bodyPr wrap="square" lIns="0" tIns="0" rIns="0" bIns="0" rtlCol="0" anchor="ctr"/>
          <a:lstStyle/>
          <a:p>
            <a:pPr indent="0" marL="0">
              <a:lnSpc>
                <a:spcPct val="135000"/>
              </a:lnSpc>
              <a:buNone/>
            </a:pPr>
            <a:r>
              <a:rPr lang="en-US" sz="1250" b="1" dirty="0">
                <a:solidFill>
                  <a:srgbClr val="1E2761"/>
                </a:solidFill>
                <a:latin typeface="Calibri" pitchFamily="34" charset="0"/>
                <a:ea typeface="Calibri" pitchFamily="34" charset="-122"/>
                <a:cs typeface="Calibri" pitchFamily="34" charset="-120"/>
              </a:rPr>
              <a:t>Groq  ·  </a:t>
            </a:r>
            <a:pPr indent="0" marL="0">
              <a:lnSpc>
                <a:spcPct val="135000"/>
              </a:lnSpc>
              <a:buNone/>
            </a:pPr>
            <a:r>
              <a:rPr lang="en-US" sz="1250" dirty="0">
                <a:solidFill>
                  <a:srgbClr val="3A4560"/>
                </a:solidFill>
                <a:latin typeface="Calibri" pitchFamily="34" charset="0"/>
                <a:ea typeface="Calibri" pitchFamily="34" charset="-122"/>
                <a:cs typeface="Calibri" pitchFamily="34" charset="-120"/>
              </a:rPr>
              <a:t>mean 740 ms   ·   p95 1.09 s</a:t>
            </a:r>
            <a:endParaRPr lang="en-US" sz="1250" dirty="0"/>
          </a:p>
          <a:p>
            <a:pPr indent="0" marL="0">
              <a:lnSpc>
                <a:spcPct val="135000"/>
              </a:lnSpc>
              <a:buNone/>
            </a:pPr>
            <a:r>
              <a:rPr lang="en-US" sz="1250" b="1" dirty="0">
                <a:solidFill>
                  <a:srgbClr val="1E2761"/>
                </a:solidFill>
                <a:latin typeface="Calibri" pitchFamily="34" charset="0"/>
                <a:ea typeface="Calibri" pitchFamily="34" charset="-122"/>
                <a:cs typeface="Calibri" pitchFamily="34" charset="-120"/>
              </a:rPr>
              <a:t>Ollama  ·  </a:t>
            </a:r>
            <a:pPr indent="0" marL="0">
              <a:lnSpc>
                <a:spcPct val="135000"/>
              </a:lnSpc>
              <a:buNone/>
            </a:pPr>
            <a:r>
              <a:rPr lang="en-US" sz="1250" dirty="0">
                <a:solidFill>
                  <a:srgbClr val="3A4560"/>
                </a:solidFill>
                <a:latin typeface="Calibri" pitchFamily="34" charset="0"/>
                <a:ea typeface="Calibri" pitchFamily="34" charset="-122"/>
                <a:cs typeface="Calibri" pitchFamily="34" charset="-120"/>
              </a:rPr>
              <a:t>mean 35.2 s   ·   p95 46.0 s</a:t>
            </a:r>
            <a:endParaRPr lang="en-US" sz="1250" dirty="0"/>
          </a:p>
        </p:txBody>
      </p:sp>
      <p:sp>
        <p:nvSpPr>
          <p:cNvPr id="10" name="Shape 7"/>
          <p:cNvSpPr/>
          <p:nvPr/>
        </p:nvSpPr>
        <p:spPr>
          <a:xfrm>
            <a:off x="7269480" y="4160520"/>
            <a:ext cx="4462272" cy="914400"/>
          </a:xfrm>
          <a:prstGeom prst="roundRect">
            <a:avLst>
              <a:gd name="adj" fmla="val 7000"/>
            </a:avLst>
          </a:prstGeom>
          <a:solidFill>
            <a:srgbClr val="EEF3FB"/>
          </a:solidFill>
          <a:ln/>
        </p:spPr>
      </p:sp>
      <p:sp>
        <p:nvSpPr>
          <p:cNvPr id="11" name="Text 8"/>
          <p:cNvSpPr/>
          <p:nvPr/>
        </p:nvSpPr>
        <p:spPr>
          <a:xfrm>
            <a:off x="7488936" y="4233672"/>
            <a:ext cx="4023360" cy="777240"/>
          </a:xfrm>
          <a:prstGeom prst="rect">
            <a:avLst/>
          </a:prstGeom>
          <a:noFill/>
          <a:ln/>
        </p:spPr>
        <p:txBody>
          <a:bodyPr wrap="square" lIns="0" tIns="0" rIns="0" bIns="0" rtlCol="0" anchor="ctr"/>
          <a:lstStyle/>
          <a:p>
            <a:pPr indent="0" marL="0">
              <a:lnSpc>
                <a:spcPct val="108000"/>
              </a:lnSpc>
              <a:buNone/>
            </a:pPr>
            <a:r>
              <a:rPr lang="en-US" sz="1100" b="1" dirty="0">
                <a:solidFill>
                  <a:srgbClr val="1E2761"/>
                </a:solidFill>
                <a:latin typeface="Calibri" pitchFamily="34" charset="0"/>
                <a:ea typeface="Calibri" pitchFamily="34" charset="-122"/>
                <a:cs typeface="Calibri" pitchFamily="34" charset="-120"/>
              </a:rPr>
              <a:t>The build-vs-buy tradeoff: </a:t>
            </a:r>
            <a:pPr indent="0" marL="0">
              <a:lnSpc>
                <a:spcPct val="108000"/>
              </a:lnSpc>
              <a:buNone/>
            </a:pPr>
            <a:r>
              <a:rPr lang="en-US" sz="1100" dirty="0">
                <a:solidFill>
                  <a:srgbClr val="3A4560"/>
                </a:solidFill>
                <a:latin typeface="Calibri" pitchFamily="34" charset="0"/>
                <a:ea typeface="Calibri" pitchFamily="34" charset="-122"/>
                <a:cs typeface="Calibri" pitchFamily="34" charset="-120"/>
              </a:rPr>
              <a:t>cloud speed against an external API dependency — with local inference as the fully-offline fallback.</a:t>
            </a:r>
            <a:endParaRPr lang="en-US" sz="1100" dirty="0"/>
          </a:p>
        </p:txBody>
      </p:sp>
      <p:sp>
        <p:nvSpPr>
          <p:cNvPr id="12" name="Text 9"/>
          <p:cNvSpPr/>
          <p:nvPr/>
        </p:nvSpPr>
        <p:spPr>
          <a:xfrm>
            <a:off x="7269480" y="5257800"/>
            <a:ext cx="4462272" cy="640080"/>
          </a:xfrm>
          <a:prstGeom prst="rect">
            <a:avLst/>
          </a:prstGeom>
          <a:noFill/>
          <a:ln/>
        </p:spPr>
        <p:txBody>
          <a:bodyPr wrap="square" lIns="0" tIns="0" rIns="0" bIns="0" rtlCol="0" anchor="ctr"/>
          <a:lstStyle/>
          <a:p>
            <a:pPr indent="0" marL="0">
              <a:lnSpc>
                <a:spcPct val="110000"/>
              </a:lnSpc>
              <a:buNone/>
            </a:pPr>
            <a:r>
              <a:rPr lang="en-US" sz="900" i="1" dirty="0">
                <a:solidFill>
                  <a:srgbClr val="7C88A6"/>
                </a:solidFill>
                <a:latin typeface="Calibri" pitchFamily="34" charset="0"/>
                <a:ea typeface="Calibri" pitchFamily="34" charset="-122"/>
                <a:cs typeface="Calibri" pitchFamily="34" charset="-120"/>
              </a:rPr>
              <a:t>Note: this benchmark ran llama3.1:8b locally; the generation-quality comparison (previous slide) used mistral:latest via a separate script.</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5486400" cy="219456"/>
          </a:xfrm>
          <a:prstGeom prst="rect">
            <a:avLst/>
          </a:prstGeom>
          <a:noFill/>
          <a:ln/>
        </p:spPr>
        <p:txBody>
          <a:bodyPr wrap="square" lIns="0" tIns="0" rIns="0" bIns="0" rtlCol="0" anchor="ctr"/>
          <a:lstStyle/>
          <a:p>
            <a:pPr indent="0" marL="0">
              <a:buNone/>
            </a:pPr>
            <a:r>
              <a:rPr lang="en-US" sz="950" b="1" spc="300" kern="0" dirty="0">
                <a:solidFill>
                  <a:srgbClr val="7C88A6"/>
                </a:solidFill>
                <a:latin typeface="Calibri" pitchFamily="34" charset="0"/>
                <a:ea typeface="Calibri" pitchFamily="34" charset="-122"/>
                <a:cs typeface="Calibri" pitchFamily="34" charset="-120"/>
              </a:rPr>
              <a:t>LECTUREBANK RAG CHATBOT</a:t>
            </a:r>
            <a:endParaRPr lang="en-US" sz="950" dirty="0"/>
          </a:p>
        </p:txBody>
      </p:sp>
      <p:sp>
        <p:nvSpPr>
          <p:cNvPr id="3" name="Text 1"/>
          <p:cNvSpPr/>
          <p:nvPr/>
        </p:nvSpPr>
        <p:spPr>
          <a:xfrm>
            <a:off x="457200" y="512064"/>
            <a:ext cx="11247120" cy="621792"/>
          </a:xfrm>
          <a:prstGeom prst="rect">
            <a:avLst/>
          </a:prstGeom>
          <a:noFill/>
          <a:ln/>
        </p:spPr>
        <p:txBody>
          <a:bodyPr wrap="square" lIns="0" tIns="0" rIns="0" bIns="0" rtlCol="0" anchor="ctr"/>
          <a:lstStyle/>
          <a:p>
            <a:pPr indent="0" marL="0">
              <a:buNone/>
            </a:pPr>
            <a:r>
              <a:rPr lang="en-US" sz="3600" b="1" dirty="0">
                <a:solidFill>
                  <a:srgbClr val="1E2761"/>
                </a:solidFill>
                <a:latin typeface="Cambria" pitchFamily="34" charset="0"/>
                <a:ea typeface="Cambria" pitchFamily="34" charset="-122"/>
                <a:cs typeface="Cambria" pitchFamily="34" charset="-120"/>
              </a:rPr>
              <a:t>Key Findings &amp; Limitations</a:t>
            </a:r>
            <a:endParaRPr lang="en-US" sz="3600" dirty="0"/>
          </a:p>
        </p:txBody>
      </p:sp>
      <p:sp>
        <p:nvSpPr>
          <p:cNvPr id="4" name="Text 2"/>
          <p:cNvSpPr/>
          <p:nvPr/>
        </p:nvSpPr>
        <p:spPr>
          <a:xfrm>
            <a:off x="11475720" y="6510528"/>
            <a:ext cx="502920" cy="237744"/>
          </a:xfrm>
          <a:prstGeom prst="rect">
            <a:avLst/>
          </a:prstGeom>
          <a:noFill/>
          <a:ln/>
        </p:spPr>
        <p:txBody>
          <a:bodyPr wrap="square" lIns="0" tIns="0" rIns="0" bIns="0" rtlCol="0" anchor="ctr"/>
          <a:lstStyle/>
          <a:p>
            <a:pPr algn="r" indent="0" marL="0">
              <a:buNone/>
            </a:pPr>
            <a:r>
              <a:rPr lang="en-US" sz="900" dirty="0">
                <a:solidFill>
                  <a:srgbClr val="7C88A6"/>
                </a:solidFill>
                <a:latin typeface="Calibri" pitchFamily="34" charset="0"/>
                <a:ea typeface="Calibri" pitchFamily="34" charset="-122"/>
                <a:cs typeface="Calibri" pitchFamily="34" charset="-120"/>
              </a:rPr>
              <a:t>10</a:t>
            </a:r>
            <a:endParaRPr lang="en-US" sz="900" dirty="0"/>
          </a:p>
        </p:txBody>
      </p:sp>
      <p:sp>
        <p:nvSpPr>
          <p:cNvPr id="5" name="Shape 3"/>
          <p:cNvSpPr/>
          <p:nvPr/>
        </p:nvSpPr>
        <p:spPr>
          <a:xfrm>
            <a:off x="457200" y="1325880"/>
            <a:ext cx="420624" cy="420624"/>
          </a:xfrm>
          <a:prstGeom prst="ellipse">
            <a:avLst/>
          </a:prstGeom>
          <a:solidFill>
            <a:srgbClr val="CADCFC"/>
          </a:solidFill>
          <a:ln/>
        </p:spPr>
      </p:sp>
      <p:pic>
        <p:nvPicPr>
          <p:cNvPr id="6" name="Image 0" descr="/home/claude/icons/check.png">    </p:cNvPr>
          <p:cNvPicPr>
            <a:picLocks noChangeAspect="1"/>
          </p:cNvPicPr>
          <p:nvPr/>
        </p:nvPicPr>
        <p:blipFill>
          <a:blip r:embed="rId1"/>
          <a:stretch>
            <a:fillRect/>
          </a:stretch>
        </p:blipFill>
        <p:spPr>
          <a:xfrm>
            <a:off x="566562" y="1435242"/>
            <a:ext cx="201900" cy="201900"/>
          </a:xfrm>
          <a:prstGeom prst="rect">
            <a:avLst/>
          </a:prstGeom>
        </p:spPr>
      </p:pic>
      <p:sp>
        <p:nvSpPr>
          <p:cNvPr id="7" name="Text 4"/>
          <p:cNvSpPr/>
          <p:nvPr/>
        </p:nvSpPr>
        <p:spPr>
          <a:xfrm>
            <a:off x="1042416" y="1298448"/>
            <a:ext cx="6035040" cy="27432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Retrieval is strong but noisy</a:t>
            </a:r>
            <a:endParaRPr lang="en-US" sz="1350" dirty="0"/>
          </a:p>
        </p:txBody>
      </p:sp>
      <p:sp>
        <p:nvSpPr>
          <p:cNvPr id="8" name="Text 5"/>
          <p:cNvSpPr/>
          <p:nvPr/>
        </p:nvSpPr>
        <p:spPr>
          <a:xfrm>
            <a:off x="1042416" y="1600200"/>
            <a:ext cx="6035040" cy="658368"/>
          </a:xfrm>
          <a:prstGeom prst="rect">
            <a:avLst/>
          </a:prstGeom>
          <a:noFill/>
          <a:ln/>
        </p:spPr>
        <p:txBody>
          <a:bodyPr wrap="square" lIns="0" tIns="0" rIns="0" bIns="0" rtlCol="0" anchor="ctr"/>
          <a:lstStyle/>
          <a:p>
            <a:pPr indent="0" marL="0">
              <a:lnSpc>
                <a:spcPct val="108000"/>
              </a:lnSpc>
              <a:buNone/>
            </a:pPr>
            <a:r>
              <a:rPr lang="en-US" sz="1100" dirty="0">
                <a:solidFill>
                  <a:srgbClr val="3A4560"/>
                </a:solidFill>
                <a:latin typeface="Calibri" pitchFamily="34" charset="0"/>
                <a:ea typeface="Calibri" pitchFamily="34" charset="-122"/>
                <a:cs typeface="Calibri" pitchFamily="34" charset="-120"/>
              </a:rPr>
              <a:t>94.4% hit rate, yet ~3 of 5 retrieved chunks are irrelevant (35.6% precision). Next step: a re-ranking stage or smaller k.</a:t>
            </a:r>
            <a:endParaRPr lang="en-US" sz="1100" dirty="0"/>
          </a:p>
        </p:txBody>
      </p:sp>
      <p:sp>
        <p:nvSpPr>
          <p:cNvPr id="9" name="Shape 6"/>
          <p:cNvSpPr/>
          <p:nvPr/>
        </p:nvSpPr>
        <p:spPr>
          <a:xfrm>
            <a:off x="457200" y="2359152"/>
            <a:ext cx="420624" cy="420624"/>
          </a:xfrm>
          <a:prstGeom prst="ellipse">
            <a:avLst/>
          </a:prstGeom>
          <a:solidFill>
            <a:srgbClr val="FBEAD3"/>
          </a:solidFill>
          <a:ln/>
        </p:spPr>
      </p:sp>
      <p:pic>
        <p:nvPicPr>
          <p:cNvPr id="10" name="Image 1" descr="/home/claude/icons/alert.png">    </p:cNvPr>
          <p:cNvPicPr>
            <a:picLocks noChangeAspect="1"/>
          </p:cNvPicPr>
          <p:nvPr/>
        </p:nvPicPr>
        <p:blipFill>
          <a:blip r:embed="rId2"/>
          <a:stretch>
            <a:fillRect/>
          </a:stretch>
        </p:blipFill>
        <p:spPr>
          <a:xfrm>
            <a:off x="566562" y="2468514"/>
            <a:ext cx="201900" cy="201900"/>
          </a:xfrm>
          <a:prstGeom prst="rect">
            <a:avLst/>
          </a:prstGeom>
        </p:spPr>
      </p:pic>
      <p:sp>
        <p:nvSpPr>
          <p:cNvPr id="11" name="Text 7"/>
          <p:cNvSpPr/>
          <p:nvPr/>
        </p:nvSpPr>
        <p:spPr>
          <a:xfrm>
            <a:off x="1042416" y="2331720"/>
            <a:ext cx="6035040" cy="27432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Faithfulness is the weakest score</a:t>
            </a:r>
            <a:endParaRPr lang="en-US" sz="1350" dirty="0"/>
          </a:p>
        </p:txBody>
      </p:sp>
      <p:sp>
        <p:nvSpPr>
          <p:cNvPr id="12" name="Text 8"/>
          <p:cNvSpPr/>
          <p:nvPr/>
        </p:nvSpPr>
        <p:spPr>
          <a:xfrm>
            <a:off x="1042416" y="2633472"/>
            <a:ext cx="6035040" cy="658368"/>
          </a:xfrm>
          <a:prstGeom prst="rect">
            <a:avLst/>
          </a:prstGeom>
          <a:noFill/>
          <a:ln/>
        </p:spPr>
        <p:txBody>
          <a:bodyPr wrap="square" lIns="0" tIns="0" rIns="0" bIns="0" rtlCol="0" anchor="ctr"/>
          <a:lstStyle/>
          <a:p>
            <a:pPr indent="0" marL="0">
              <a:lnSpc>
                <a:spcPct val="108000"/>
              </a:lnSpc>
              <a:buNone/>
            </a:pPr>
            <a:r>
              <a:rPr lang="en-US" sz="1100" dirty="0">
                <a:solidFill>
                  <a:srgbClr val="3A4560"/>
                </a:solidFill>
                <a:latin typeface="Calibri" pitchFamily="34" charset="0"/>
                <a:ea typeface="Calibri" pitchFamily="34" charset="-122"/>
                <a:cs typeface="Calibri" pitchFamily="34" charset="-120"/>
              </a:rPr>
              <a:t>60.0% — automated judging caught fluent, plausible, wrong answers that a human skim would have passed.</a:t>
            </a:r>
            <a:endParaRPr lang="en-US" sz="1100" dirty="0"/>
          </a:p>
        </p:txBody>
      </p:sp>
      <p:sp>
        <p:nvSpPr>
          <p:cNvPr id="13" name="Shape 9"/>
          <p:cNvSpPr/>
          <p:nvPr/>
        </p:nvSpPr>
        <p:spPr>
          <a:xfrm>
            <a:off x="457200" y="3392424"/>
            <a:ext cx="420624" cy="420624"/>
          </a:xfrm>
          <a:prstGeom prst="ellipse">
            <a:avLst/>
          </a:prstGeom>
          <a:solidFill>
            <a:srgbClr val="CADCFC"/>
          </a:solidFill>
          <a:ln/>
        </p:spPr>
      </p:sp>
      <p:pic>
        <p:nvPicPr>
          <p:cNvPr id="14" name="Image 2" descr="/home/claude/icons/filter.png">    </p:cNvPr>
          <p:cNvPicPr>
            <a:picLocks noChangeAspect="1"/>
          </p:cNvPicPr>
          <p:nvPr/>
        </p:nvPicPr>
        <p:blipFill>
          <a:blip r:embed="rId3"/>
          <a:stretch>
            <a:fillRect/>
          </a:stretch>
        </p:blipFill>
        <p:spPr>
          <a:xfrm>
            <a:off x="566562" y="3501786"/>
            <a:ext cx="201900" cy="201900"/>
          </a:xfrm>
          <a:prstGeom prst="rect">
            <a:avLst/>
          </a:prstGeom>
        </p:spPr>
      </p:pic>
      <p:sp>
        <p:nvSpPr>
          <p:cNvPr id="15" name="Text 10"/>
          <p:cNvSpPr/>
          <p:nvPr/>
        </p:nvSpPr>
        <p:spPr>
          <a:xfrm>
            <a:off x="1042416" y="3364992"/>
            <a:ext cx="6035040" cy="27432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The scope gate isn’t airtight</a:t>
            </a:r>
            <a:endParaRPr lang="en-US" sz="1350" dirty="0"/>
          </a:p>
        </p:txBody>
      </p:sp>
      <p:sp>
        <p:nvSpPr>
          <p:cNvPr id="16" name="Text 11"/>
          <p:cNvSpPr/>
          <p:nvPr/>
        </p:nvSpPr>
        <p:spPr>
          <a:xfrm>
            <a:off x="1042416" y="3666744"/>
            <a:ext cx="6035040" cy="658368"/>
          </a:xfrm>
          <a:prstGeom prst="rect">
            <a:avLst/>
          </a:prstGeom>
          <a:noFill/>
          <a:ln/>
        </p:spPr>
        <p:txBody>
          <a:bodyPr wrap="square" lIns="0" tIns="0" rIns="0" bIns="0" rtlCol="0" anchor="ctr"/>
          <a:lstStyle/>
          <a:p>
            <a:pPr indent="0" marL="0">
              <a:lnSpc>
                <a:spcPct val="108000"/>
              </a:lnSpc>
              <a:buNone/>
            </a:pPr>
            <a:r>
              <a:rPr lang="en-US" sz="1100" dirty="0">
                <a:solidFill>
                  <a:srgbClr val="3A4560"/>
                </a:solidFill>
                <a:latin typeface="Calibri" pitchFamily="34" charset="0"/>
                <a:ea typeface="Calibri" pitchFamily="34" charset="-122"/>
                <a:cs typeface="Calibri" pitchFamily="34" charset="-120"/>
              </a:rPr>
              <a:t>95.7% accuracy, but one cookie-recipe question was accepted as in-scope. A known limitation, not a solved problem.</a:t>
            </a:r>
            <a:endParaRPr lang="en-US" sz="1100" dirty="0"/>
          </a:p>
        </p:txBody>
      </p:sp>
      <p:sp>
        <p:nvSpPr>
          <p:cNvPr id="17" name="Shape 12"/>
          <p:cNvSpPr/>
          <p:nvPr/>
        </p:nvSpPr>
        <p:spPr>
          <a:xfrm>
            <a:off x="457200" y="4425696"/>
            <a:ext cx="420624" cy="420624"/>
          </a:xfrm>
          <a:prstGeom prst="ellipse">
            <a:avLst/>
          </a:prstGeom>
          <a:solidFill>
            <a:srgbClr val="CADCFC"/>
          </a:solidFill>
          <a:ln/>
        </p:spPr>
      </p:sp>
      <p:pic>
        <p:nvPicPr>
          <p:cNvPr id="18" name="Image 3" descr="/home/claude/icons/zap.png">    </p:cNvPr>
          <p:cNvPicPr>
            <a:picLocks noChangeAspect="1"/>
          </p:cNvPicPr>
          <p:nvPr/>
        </p:nvPicPr>
        <p:blipFill>
          <a:blip r:embed="rId4"/>
          <a:stretch>
            <a:fillRect/>
          </a:stretch>
        </p:blipFill>
        <p:spPr>
          <a:xfrm>
            <a:off x="566562" y="4535058"/>
            <a:ext cx="201900" cy="201900"/>
          </a:xfrm>
          <a:prstGeom prst="rect">
            <a:avLst/>
          </a:prstGeom>
        </p:spPr>
      </p:pic>
      <p:sp>
        <p:nvSpPr>
          <p:cNvPr id="19" name="Text 13"/>
          <p:cNvSpPr/>
          <p:nvPr/>
        </p:nvSpPr>
        <p:spPr>
          <a:xfrm>
            <a:off x="1042416" y="4398264"/>
            <a:ext cx="6035040" cy="27432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Cloud vs local is a genuine tradeoff</a:t>
            </a:r>
            <a:endParaRPr lang="en-US" sz="1350" dirty="0"/>
          </a:p>
        </p:txBody>
      </p:sp>
      <p:sp>
        <p:nvSpPr>
          <p:cNvPr id="20" name="Text 14"/>
          <p:cNvSpPr/>
          <p:nvPr/>
        </p:nvSpPr>
        <p:spPr>
          <a:xfrm>
            <a:off x="1042416" y="4700016"/>
            <a:ext cx="6035040" cy="658368"/>
          </a:xfrm>
          <a:prstGeom prst="rect">
            <a:avLst/>
          </a:prstGeom>
          <a:noFill/>
          <a:ln/>
        </p:spPr>
        <p:txBody>
          <a:bodyPr wrap="square" lIns="0" tIns="0" rIns="0" bIns="0" rtlCol="0" anchor="ctr"/>
          <a:lstStyle/>
          <a:p>
            <a:pPr indent="0" marL="0">
              <a:lnSpc>
                <a:spcPct val="108000"/>
              </a:lnSpc>
              <a:buNone/>
            </a:pPr>
            <a:r>
              <a:rPr lang="en-US" sz="1100" dirty="0">
                <a:solidFill>
                  <a:srgbClr val="3A4560"/>
                </a:solidFill>
                <a:latin typeface="Calibri" pitchFamily="34" charset="0"/>
                <a:ea typeface="Calibri" pitchFamily="34" charset="-122"/>
                <a:cs typeface="Calibri" pitchFamily="34" charset="-120"/>
              </a:rPr>
              <a:t>~47.5× faster on Groq at the cost of an API dependency — and swapping the local model buys no faithfulness gain.</a:t>
            </a:r>
            <a:endParaRPr lang="en-US" sz="1100" dirty="0"/>
          </a:p>
        </p:txBody>
      </p:sp>
      <p:sp>
        <p:nvSpPr>
          <p:cNvPr id="21" name="Shape 15"/>
          <p:cNvSpPr/>
          <p:nvPr/>
        </p:nvSpPr>
        <p:spPr>
          <a:xfrm>
            <a:off x="7406640" y="1325880"/>
            <a:ext cx="4325112" cy="4114800"/>
          </a:xfrm>
          <a:prstGeom prst="roundRect">
            <a:avLst>
              <a:gd name="adj" fmla="val 1556"/>
            </a:avLst>
          </a:prstGeom>
          <a:solidFill>
            <a:srgbClr val="EEF3FB"/>
          </a:solidFill>
          <a:ln/>
        </p:spPr>
      </p:sp>
      <p:sp>
        <p:nvSpPr>
          <p:cNvPr id="22" name="Text 16"/>
          <p:cNvSpPr/>
          <p:nvPr/>
        </p:nvSpPr>
        <p:spPr>
          <a:xfrm>
            <a:off x="7626096" y="1517904"/>
            <a:ext cx="3886200" cy="292608"/>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Say this with the numbers</a:t>
            </a:r>
            <a:endParaRPr lang="en-US" sz="1400" dirty="0"/>
          </a:p>
        </p:txBody>
      </p:sp>
      <p:sp>
        <p:nvSpPr>
          <p:cNvPr id="23" name="Text 17"/>
          <p:cNvSpPr/>
          <p:nvPr/>
        </p:nvSpPr>
        <p:spPr>
          <a:xfrm>
            <a:off x="7626096" y="1938528"/>
            <a:ext cx="3886200" cy="3291840"/>
          </a:xfrm>
          <a:prstGeom prst="rect">
            <a:avLst/>
          </a:prstGeom>
          <a:noFill/>
          <a:ln/>
        </p:spPr>
        <p:txBody>
          <a:bodyPr wrap="square" lIns="0" tIns="0" rIns="0" bIns="0" rtlCol="0" anchor="t"/>
          <a:lstStyle/>
          <a:p>
            <a:pPr marL="127000" indent="-127000">
              <a:lnSpc>
                <a:spcPct val="110000"/>
              </a:lnSpc>
              <a:spcAft>
                <a:spcPts val="900"/>
              </a:spcAft>
              <a:buSzPct val="100000"/>
              <a:buChar char="•"/>
            </a:pPr>
            <a:r>
              <a:rPr lang="en-US" sz="1050" dirty="0">
                <a:solidFill>
                  <a:srgbClr val="3A4560"/>
                </a:solidFill>
                <a:latin typeface="Calibri" pitchFamily="34" charset="0"/>
                <a:ea typeface="Calibri" pitchFamily="34" charset="-122"/>
                <a:cs typeface="Calibri" pitchFamily="34" charset="-120"/>
              </a:rPr>
              <a:t>“On an 18-question golden set” — demo-sized, not a statistically rigorous sample.</a:t>
            </a:r>
            <a:endParaRPr lang="en-US" sz="1050" dirty="0"/>
          </a:p>
          <a:p>
            <a:pPr marL="127000" indent="-127000">
              <a:lnSpc>
                <a:spcPct val="110000"/>
              </a:lnSpc>
              <a:spcAft>
                <a:spcPts val="900"/>
              </a:spcAft>
              <a:buSzPct val="100000"/>
              <a:buChar char="•"/>
            </a:pPr>
            <a:r>
              <a:rPr lang="en-US" sz="1050" dirty="0">
                <a:solidFill>
                  <a:srgbClr val="3A4560"/>
                </a:solidFill>
                <a:latin typeface="Calibri" pitchFamily="34" charset="0"/>
                <a:ea typeface="Calibri" pitchFamily="34" charset="-122"/>
                <a:cs typeface="Calibri" pitchFamily="34" charset="-120"/>
              </a:rPr>
              <a:t>Context recall is a keyword-coverage proxy, not ragas’ LLM-based context_recall — no gold reference answers exist for this dataset.</a:t>
            </a:r>
            <a:endParaRPr lang="en-US" sz="1050" dirty="0"/>
          </a:p>
          <a:p>
            <a:pPr marL="127000" indent="-127000">
              <a:lnSpc>
                <a:spcPct val="110000"/>
              </a:lnSpc>
              <a:spcAft>
                <a:spcPts val="900"/>
              </a:spcAft>
              <a:buSzPct val="100000"/>
              <a:buChar char="•"/>
            </a:pPr>
            <a:r>
              <a:rPr lang="en-US" sz="1050" dirty="0">
                <a:solidFill>
                  <a:srgbClr val="3A4560"/>
                </a:solidFill>
                <a:latin typeface="Calibri" pitchFamily="34" charset="0"/>
                <a:ea typeface="Calibri" pitchFamily="34" charset="-122"/>
                <a:cs typeface="Calibri" pitchFamily="34" charset="-120"/>
              </a:rPr>
              <a:t>Faithfulness, relevancy and context precision are LLM-judged — label them that way, not as “measured”.</a:t>
            </a:r>
            <a:endParaRPr lang="en-US" sz="1050" dirty="0"/>
          </a:p>
        </p:txBody>
      </p:sp>
      <p:sp>
        <p:nvSpPr>
          <p:cNvPr id="24" name="Shape 18"/>
          <p:cNvSpPr/>
          <p:nvPr/>
        </p:nvSpPr>
        <p:spPr>
          <a:xfrm>
            <a:off x="457200" y="5715000"/>
            <a:ext cx="11274552" cy="731520"/>
          </a:xfrm>
          <a:prstGeom prst="roundRect">
            <a:avLst>
              <a:gd name="adj" fmla="val 11250"/>
            </a:avLst>
          </a:prstGeom>
          <a:solidFill>
            <a:srgbClr val="1E2761"/>
          </a:solidFill>
          <a:ln/>
        </p:spPr>
      </p:sp>
      <p:pic>
        <p:nvPicPr>
          <p:cNvPr id="25" name="Image 4" descr="/home/claude/icons/terminal_w.png">    </p:cNvPr>
          <p:cNvPicPr>
            <a:picLocks noChangeAspect="1"/>
          </p:cNvPicPr>
          <p:nvPr/>
        </p:nvPicPr>
        <p:blipFill>
          <a:blip r:embed="rId5"/>
          <a:stretch>
            <a:fillRect/>
          </a:stretch>
        </p:blipFill>
        <p:spPr>
          <a:xfrm>
            <a:off x="749808" y="5943600"/>
            <a:ext cx="274320" cy="274320"/>
          </a:xfrm>
          <a:prstGeom prst="rect">
            <a:avLst/>
          </a:prstGeom>
        </p:spPr>
      </p:pic>
      <p:sp>
        <p:nvSpPr>
          <p:cNvPr id="26" name="Text 19"/>
          <p:cNvSpPr/>
          <p:nvPr/>
        </p:nvSpPr>
        <p:spPr>
          <a:xfrm>
            <a:off x="1188720" y="5715000"/>
            <a:ext cx="10424160" cy="73152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Reproduce everything:  </a:t>
            </a:r>
            <a:pPr indent="0" marL="0">
              <a:buNone/>
            </a:pPr>
            <a:r>
              <a:rPr lang="en-US" sz="1200" b="1" dirty="0">
                <a:solidFill>
                  <a:srgbClr val="FFFFFF"/>
                </a:solidFill>
                <a:latin typeface="Courier New" pitchFamily="34" charset="0"/>
                <a:ea typeface="Courier New" pitchFamily="34" charset="-122"/>
                <a:cs typeface="Courier New" pitchFamily="34" charset="-120"/>
              </a:rPr>
              <a:t>.venv\Scripts\python.exe -m eval.run_all</a:t>
            </a:r>
            <a:pPr indent="0" marL="0">
              <a:buNone/>
            </a:pPr>
            <a:r>
              <a:rPr lang="en-US" sz="1200" dirty="0">
                <a:solidFill>
                  <a:srgbClr val="CADCFC"/>
                </a:solidFill>
                <a:latin typeface="Calibri" pitchFamily="34" charset="0"/>
                <a:ea typeface="Calibri" pitchFamily="34" charset="-122"/>
                <a:cs typeface="Calibri" pitchFamily="34" charset="-120"/>
              </a:rPr>
              <a:t>   →   full per-question detail in </a:t>
            </a:r>
            <a:pPr indent="0" marL="0">
              <a:buNone/>
            </a:pPr>
            <a:r>
              <a:rPr lang="en-US" sz="1200" dirty="0">
                <a:solidFill>
                  <a:srgbClr val="FFFFFF"/>
                </a:solidFill>
                <a:latin typeface="Courier New" pitchFamily="34" charset="0"/>
                <a:ea typeface="Courier New" pitchFamily="34" charset="-122"/>
                <a:cs typeface="Courier New" pitchFamily="34" charset="-120"/>
              </a:rPr>
              <a:t>eval/results/*.json</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2026-08-11T04:13:57Z</dcterms:created>
  <dcterms:modified xsi:type="dcterms:W3CDTF">2026-08-11T04:13:57Z</dcterms:modified>
</cp:coreProperties>
</file>